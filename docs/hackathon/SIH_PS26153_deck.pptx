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approach" id="{793ea386-3e82-a370-c7f4-1af849b708f8}">
          <p14:sldIdLst>
            <p14:sldId id="256"/>
          </p14:sldIdLst>
        </p14:section>
        <p14:section name="Data and state vector" id="{aa456d7e-721d-63f3-ea6c-b9b654bd168d}">
          <p14:sldIdLst>
            <p14:sldId id="257"/>
          </p14:sldIdLst>
        </p14:section>
        <p14:section name="World model and explanations" id="{96cb97dc-9fa7-2f77-14c3-38bf1df87f22}">
          <p14:sldIdLst>
            <p14:sldId id="258"/>
          </p14:sldIdLst>
        </p14:section>
        <p14:section name="Results" id="{d380bf3f-0ae9-1b36-b3ba-f7dbeabd3c7f}">
          <p14:sldIdLst>
            <p14:sldId id="259"/>
          </p14:sldIdLst>
        </p14:section>
        <p14:section name="Demo, limits, next" id="{54d7e335-7fb4-f253-d0d3-b8f43dee6132}">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framing: we built the complete system the problem statement describes and evaluated it honestly, including where the idea does not work. Reactive IDS classifies flows after the fact; PS 26153 asks for a model of how network state evolves so infiltration risk can be estimated before the kill chain completes. Walk the figure left to right: input, state vector, world model with rollout, prediction, explanation, offline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CIC-IDS2017: 2.83M flows, 2,453 windows of 60 seconds, 264 attack windows, 41 attack episodes over 5 days. 43 features: 13 base, 22 flow level, 8 packet-level proxies available in a CSV. The PCAP path built with Scapy also extracts TTL and its variance, fragmentation flags and retransmissions, verified on a synthetic capture. The trained model does not use them because the training data cannot provide them. Earlier finding worth mentioning: no precursor signal before attacks at this resolution (DDoS, Hulk, PortScan checked), so forecasting at one-minute resolution is at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one LSTM cell, 128 hidden units, 100,702 parameters. After consuming a state it outputs a Gaussian over the next state (current state plus a learned delta), an infiltration logit and an ATT&amp;CK stage over 7 classes. It reads 6 windows, then rolls out 6 steps feeding its predicted mean state back in, so we get a probability series for the current window and the next six. Explanations use the expected-gradients SHAP estimator, implemented to differentiate through the rollout. Validation: r = 0.99 with the shap library; deleting the top 3, 5 and 10 features lowers the logit by 2.14, 2.81 and 4.11 against about zero for random features (0.09, 0.02 and 0.21); completeness residual 9.5%, so explanations are approximate. One design detail worth mentioning: the infiltration and stage losses are computed on the real history steps only. My first version also trained them on the imagined future steps, which hurt detection (see the results slide). Be explicit about the stage mapping caveats: DoS and DDoS fit none of the five stages so they get a sixth class, and no CIC-IDS2017 label is Exfiltration.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Protocol: blocked 5-fold cross-validation with 60-window blocks and a 12-window purge, scaler refit per fold, thresholds calibrated on a validation fold for a 2% false-alarm target, 3 seeds, block-bootstrap confidence intervals, plus leave-one-attack-type-out. Detecting the current window: logistic regression PR-AUC 0.451, F1 0.43; LSTM classifier 0.350, F1 0.31; world model 0.299, F1 0.30. The paired difference between world model and logistic regression is -0.14 with CI -0.35 to +0.05, so it is not significant, but the world model has the lowest point estimate. The requirement that the temporal model show a measurable improvement is not met on this data. History: my first version scored 0.219 and was significantly worse than logistic regression. I tested overfitting as the cause and it was mostly wrong: shrinking the model to 2,500 parameters, regularising it and down-weighting the dynamics loss changed nothing. The cause was the training objective: the model was also trained to predict attack labels from its own imagined future states, which are close to unpredictable. Training the infiltration head on real steps only lifted it to 0.30. The change was chosen by validation score, but it was made after seeing a poor result, so say so. Forecasting 3 minutes ahead: PR-AUC 0.18 to 0.27 for all models; the world model has the highest point estimate but only 1 of 12 paired comparisons is significant, so do not claim it forecasts. This is consistent with the earlier finding that attacks start abruptly.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upload a flow CSV or PCAP, show the probability timeline, ATT&amp;CK stage markers, flagged windows with SHAP drivers, and the host counterfactual that removes the DDoS pair and drops the probability. Limits to state plainly: 41 attack episodes in 5 days of one lab network, minute-resolution timestamps, demo weights trained on all days so the bundled sample is in-sample, stage head cannot output Exfiltration, thresholds drift across days. Next steps: a finer-resolution dataset with multi-stage attacks (CIC-IDS2018 or CTU-13), stronger regularisation, host-level graph state. Close on the contribution: a reproducible, explainable baseline and an evaluation protocol (purged blocked CV, leave-one-attack-type-out) that exposes weaknesses instead of hiding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2202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1463040"/>
          </a:xfrm>
          <a:prstGeom prst="rect">
            <a:avLst/>
          </a:prstGeom>
          <a:noFill/>
          <a:ln/>
        </p:spPr>
        <p:txBody>
          <a:bodyPr wrap="square" rtlCol="0"/>
          <a:lstStyle>
            <a:lvl1pPr indent="0" marL="0">
              <a:buNone/>
              <a:defRPr lang="en-US" sz="4200" b="1" dirty="0">
                <a:solidFill>
                  <a:srgbClr val="F1EFE8"/>
                </a:solidFill>
              </a:defRPr>
            </a:lvl1pPr>
          </a:lstStyle>
          <a:p>
            <a:pPr indent="0" marL="0">
              <a:buNone/>
            </a:pPr>
            <a:endParaRPr lang="en-US" sz="4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6F5F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902" y="777240"/>
            <a:ext cx="10565892" cy="86868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2202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902" y="777240"/>
            <a:ext cx="10565892" cy="868680"/>
          </a:xfrm>
          <a:prstGeom prst="rect">
            <a:avLst/>
          </a:prstGeom>
          <a:noFill/>
          <a:ln/>
        </p:spPr>
        <p:txBody>
          <a:bodyPr wrap="square" rtlCol="0"/>
          <a:lstStyle>
            <a:lvl1pPr indent="0" marL="0">
              <a:buNone/>
              <a:defRPr lang="en-US" sz="3200" b="1" dirty="0">
                <a:solidFill>
                  <a:srgbClr val="F1EFE8"/>
                </a:solidFill>
              </a:defRPr>
            </a:lvl1pPr>
          </a:lstStyle>
          <a:p>
            <a:pPr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812902" y="640080"/>
            <a:ext cx="10565892" cy="274320"/>
          </a:xfrm>
          <a:prstGeom prst="rect">
            <a:avLst/>
          </a:prstGeom>
          <a:noFill/>
          <a:ln/>
        </p:spPr>
        <p:txBody>
          <a:bodyPr wrap="square" lIns="0" tIns="0" rIns="0" bIns="0" rtlCol="0" anchor="t"/>
          <a:lstStyle/>
          <a:p>
            <a:pPr indent="0" marL="0">
              <a:buNone/>
            </a:pPr>
            <a:r>
              <a:rPr lang="en-US" sz="1200" b="1" spc="200" kern="0" dirty="0">
                <a:solidFill>
                  <a:srgbClr val="6FD6CB"/>
                </a:solidFill>
              </a:rPr>
              <a:t>SIH 2026  ·  PS 26153  ·  AI-BASED NETWORK ATTACK FORECASTING</a:t>
            </a:r>
            <a:endParaRPr lang="en-US" sz="1200" dirty="0"/>
          </a:p>
        </p:txBody>
      </p:sp>
      <p:sp>
        <p:nvSpPr>
          <p:cNvPr id="3" name="Text 0"/>
          <p:cNvSpPr/>
          <p:nvPr>
            <p:ph idx="100" type="title" hasCustomPrompt="1"/>
          </p:nvPr>
        </p:nvSpPr>
        <p:spPr>
          <a:xfrm>
            <a:off x="812902" y="1097280"/>
            <a:ext cx="10565892" cy="1463040"/>
          </a:xfrm>
          <a:prstGeom prst="rect">
            <a:avLst/>
          </a:prstGeom>
          <a:noFill/>
          <a:ln/>
        </p:spPr>
        <p:txBody>
          <a:bodyPr wrap="square" lIns="0" tIns="0" rIns="0" bIns="0" rtlCol="0" anchor="t"/>
          <a:lstStyle/>
          <a:p>
            <a:pPr indent="0" marL="0">
              <a:buNone/>
            </a:pPr>
            <a:r>
              <a:rPr lang="en-US" sz="4200" b="1" dirty="0">
                <a:solidFill>
                  <a:srgbClr val="F1EFE8"/>
                </a:solidFill>
              </a:rPr>
              <a:t>A learned world model of network state, tested honestly</a:t>
            </a:r>
            <a:endParaRPr lang="en-US" sz="4200" dirty="0"/>
          </a:p>
        </p:txBody>
      </p:sp>
      <p:sp>
        <p:nvSpPr>
          <p:cNvPr id="4" name="Approach bullets"/>
          <p:cNvSpPr txBox="1"/>
          <p:nvPr/>
        </p:nvSpPr>
        <p:spPr>
          <a:xfrm>
            <a:off x="812902" y="2880360"/>
            <a:ext cx="4444898" cy="2606040"/>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rgbClr val="D5DCE3"/>
                </a:solidFill>
              </a:rPr>
              <a:t>Traffic becomes a 60 second state vector; an LSTM learns what the next state looks like.</a:t>
            </a:r>
            <a:endParaRPr lang="en-US" sz="1500" dirty="0"/>
          </a:p>
          <a:p>
            <a:pPr marL="342900" indent="-342900">
              <a:spcAft>
                <a:spcPts val="1400"/>
              </a:spcAft>
              <a:buSzPct val="100000"/>
              <a:buChar char="•"/>
            </a:pPr>
            <a:r>
              <a:rPr lang="en-US" sz="1500" dirty="0">
                <a:solidFill>
                  <a:srgbClr val="D5DCE3"/>
                </a:solidFill>
              </a:rPr>
              <a:t>A 6-step rollout gives P(infiltration) and an ATT&amp;CK stage, and SHAP explains every output.</a:t>
            </a:r>
            <a:endParaRPr lang="en-US" sz="1500" dirty="0"/>
          </a:p>
          <a:p>
            <a:pPr marL="342900" indent="-342900">
              <a:buSzPct val="100000"/>
              <a:buChar char="•"/>
            </a:pPr>
            <a:r>
              <a:rPr lang="en-US" sz="1500" dirty="0">
                <a:solidFill>
                  <a:srgbClr val="D5DCE3"/>
                </a:solidFill>
              </a:rPr>
              <a:t>Built end to end and benchmarked on CIC-IDS2017. The headline is a </a:t>
            </a:r>
            <a:pPr indent="0" marL="0">
              <a:buNone/>
            </a:pPr>
            <a:r>
              <a:rPr lang="en-US" sz="1500" b="1" dirty="0">
                <a:solidFill>
                  <a:srgbClr val="F2B766"/>
                </a:solidFill>
              </a:rPr>
              <a:t>negative result</a:t>
            </a:r>
            <a:pPr indent="0" marL="0">
              <a:buNone/>
            </a:pPr>
            <a:r>
              <a:rPr lang="en-US" sz="1500" dirty="0">
                <a:solidFill>
                  <a:srgbClr val="D5DCE3"/>
                </a:solidFill>
              </a:rPr>
              <a:t>.</a:t>
            </a:r>
            <a:endParaRPr lang="en-US" sz="1500" dirty="0"/>
          </a:p>
        </p:txBody>
      </p:sp>
      <p:sp>
        <p:nvSpPr>
          <p:cNvPr id="5" name="Figure card"/>
          <p:cNvSpPr/>
          <p:nvPr/>
        </p:nvSpPr>
        <p:spPr>
          <a:xfrm>
            <a:off x="5663794" y="2880360"/>
            <a:ext cx="5715000" cy="2606040"/>
          </a:xfrm>
          <a:prstGeom prst="roundRect">
            <a:avLst>
              <a:gd name="adj" fmla="val 2807"/>
            </a:avLst>
          </a:prstGeom>
          <a:solidFill>
            <a:srgbClr val="F6F5F0"/>
          </a:solidFill>
          <a:ln/>
        </p:spPr>
      </p:sp>
      <p:pic>
        <p:nvPicPr>
          <p:cNvPr id="6" name="Image 0" descr="Architecture: input flows or PCAP, 43-feature state, LSTM world model with rollout, prediction, SHAP explanation, offline demo">    </p:cNvPr>
          <p:cNvPicPr>
            <a:picLocks noChangeAspect="1"/>
          </p:cNvPicPr>
          <p:nvPr/>
        </p:nvPicPr>
        <p:blipFill>
          <a:blip r:embed="rId1"/>
          <a:srcRect l="0" r="0" t="0" b="0"/>
          <a:stretch/>
        </p:blipFill>
        <p:spPr>
          <a:xfrm>
            <a:off x="5816224" y="3032790"/>
            <a:ext cx="5410230" cy="2301270"/>
          </a:xfrm>
          <a:prstGeom prst="rect">
            <a:avLst/>
          </a:prstGeom>
        </p:spPr>
      </p:pic>
      <p:sp>
        <p:nvSpPr>
          <p:cNvPr id="7" name="Footer note"/>
          <p:cNvSpPr txBox="1"/>
          <p:nvPr/>
        </p:nvSpPr>
        <p:spPr>
          <a:xfrm>
            <a:off x="812902" y="6263640"/>
            <a:ext cx="10565892" cy="274320"/>
          </a:xfrm>
          <a:prstGeom prst="rect">
            <a:avLst/>
          </a:prstGeom>
          <a:noFill/>
          <a:ln/>
        </p:spPr>
        <p:txBody>
          <a:bodyPr wrap="square" lIns="0" tIns="0" rIns="0" bIns="0" rtlCol="0" anchor="t"/>
          <a:lstStyle/>
          <a:p>
            <a:pPr indent="0" marL="0">
              <a:buNone/>
            </a:pPr>
            <a:r>
              <a:rPr lang="en-US" sz="1200" dirty="0">
                <a:solidFill>
                  <a:srgbClr val="9FB0C0"/>
                </a:solidFill>
              </a:rPr>
              <a:t>github.com/ydhitler1-arch/network-attack-world-model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12902" y="777240"/>
            <a:ext cx="10565892" cy="868680"/>
          </a:xfrm>
          <a:prstGeom prst="rect">
            <a:avLst/>
          </a:prstGeom>
          <a:noFill/>
          <a:ln/>
        </p:spPr>
        <p:txBody>
          <a:bodyPr wrap="square" lIns="0" tIns="0" rIns="0" bIns="0" rtlCol="0" anchor="t"/>
          <a:lstStyle/>
          <a:p>
            <a:pPr indent="0" marL="0">
              <a:buNone/>
            </a:pPr>
            <a:r>
              <a:rPr lang="en-US" sz="3200" b="1" dirty="0">
                <a:solidFill>
                  <a:schemeClr val="tx1"/>
                </a:solidFill>
              </a:rPr>
              <a:t>43 features describe each minute of traffic</a:t>
            </a:r>
            <a:endParaRPr lang="en-US" sz="3200" dirty="0"/>
          </a:p>
        </p:txBody>
      </p:sp>
      <p:sp>
        <p:nvSpPr>
          <p:cNvPr id="3" name="Stat card 1"/>
          <p:cNvSpPr/>
          <p:nvPr/>
        </p:nvSpPr>
        <p:spPr>
          <a:xfrm>
            <a:off x="812902" y="1600200"/>
            <a:ext cx="2489225" cy="1325880"/>
          </a:xfrm>
          <a:prstGeom prst="roundRect">
            <a:avLst>
              <a:gd name="adj" fmla="val 5517"/>
            </a:avLst>
          </a:prstGeom>
          <a:solidFill>
            <a:srgbClr val="FDFCF8"/>
          </a:solidFill>
          <a:ln w="9525">
            <a:solidFill>
              <a:srgbClr val="DAD7CC"/>
            </a:solidFill>
            <a:prstDash val="solid"/>
          </a:ln>
        </p:spPr>
      </p:sp>
      <p:sp>
        <p:nvSpPr>
          <p:cNvPr id="4" name="Stat value 1"/>
          <p:cNvSpPr txBox="1"/>
          <p:nvPr/>
        </p:nvSpPr>
        <p:spPr>
          <a:xfrm>
            <a:off x="1014070" y="1737360"/>
            <a:ext cx="2086889" cy="594360"/>
          </a:xfrm>
          <a:prstGeom prst="rect">
            <a:avLst/>
          </a:prstGeom>
          <a:noFill/>
          <a:ln/>
        </p:spPr>
        <p:txBody>
          <a:bodyPr wrap="square" lIns="0" tIns="0" rIns="0" bIns="0" rtlCol="0" anchor="t"/>
          <a:lstStyle/>
          <a:p>
            <a:pPr indent="0" marL="0">
              <a:buNone/>
            </a:pPr>
            <a:r>
              <a:rPr lang="en-US" sz="3400" b="1" dirty="0">
                <a:solidFill>
                  <a:schemeClr val="accent1"/>
                </a:solidFill>
              </a:rPr>
              <a:t>2.83M</a:t>
            </a:r>
            <a:endParaRPr lang="en-US" sz="3400" dirty="0"/>
          </a:p>
        </p:txBody>
      </p:sp>
      <p:sp>
        <p:nvSpPr>
          <p:cNvPr id="5" name="Stat label 1"/>
          <p:cNvSpPr txBox="1"/>
          <p:nvPr/>
        </p:nvSpPr>
        <p:spPr>
          <a:xfrm>
            <a:off x="1014070" y="2377440"/>
            <a:ext cx="2086889" cy="502920"/>
          </a:xfrm>
          <a:prstGeom prst="rect">
            <a:avLst/>
          </a:prstGeom>
          <a:noFill/>
          <a:ln/>
        </p:spPr>
        <p:txBody>
          <a:bodyPr wrap="square" lIns="0" tIns="0" rIns="0" bIns="0" rtlCol="0" anchor="t"/>
          <a:lstStyle/>
          <a:p>
            <a:pPr indent="0" marL="0">
              <a:buNone/>
            </a:pPr>
            <a:r>
              <a:rPr lang="en-US" sz="1400" dirty="0">
                <a:solidFill>
                  <a:srgbClr val="4A5663"/>
                </a:solidFill>
              </a:rPr>
              <a:t>flows after cleaning</a:t>
            </a:r>
            <a:endParaRPr lang="en-US" sz="1400" dirty="0"/>
          </a:p>
        </p:txBody>
      </p:sp>
      <p:sp>
        <p:nvSpPr>
          <p:cNvPr id="6" name="Stat card 2"/>
          <p:cNvSpPr/>
          <p:nvPr/>
        </p:nvSpPr>
        <p:spPr>
          <a:xfrm>
            <a:off x="3505124" y="1600200"/>
            <a:ext cx="2489225" cy="1325880"/>
          </a:xfrm>
          <a:prstGeom prst="roundRect">
            <a:avLst>
              <a:gd name="adj" fmla="val 5517"/>
            </a:avLst>
          </a:prstGeom>
          <a:solidFill>
            <a:srgbClr val="FDFCF8"/>
          </a:solidFill>
          <a:ln w="9525">
            <a:solidFill>
              <a:srgbClr val="DAD7CC"/>
            </a:solidFill>
            <a:prstDash val="solid"/>
          </a:ln>
        </p:spPr>
      </p:sp>
      <p:sp>
        <p:nvSpPr>
          <p:cNvPr id="7" name="Stat value 2"/>
          <p:cNvSpPr txBox="1"/>
          <p:nvPr/>
        </p:nvSpPr>
        <p:spPr>
          <a:xfrm>
            <a:off x="3706292" y="1737360"/>
            <a:ext cx="2086889" cy="594360"/>
          </a:xfrm>
          <a:prstGeom prst="rect">
            <a:avLst/>
          </a:prstGeom>
          <a:noFill/>
          <a:ln/>
        </p:spPr>
        <p:txBody>
          <a:bodyPr wrap="square" lIns="0" tIns="0" rIns="0" bIns="0" rtlCol="0" anchor="t"/>
          <a:lstStyle/>
          <a:p>
            <a:pPr indent="0" marL="0">
              <a:buNone/>
            </a:pPr>
            <a:r>
              <a:rPr lang="en-US" sz="3400" b="1" dirty="0">
                <a:solidFill>
                  <a:schemeClr val="accent1"/>
                </a:solidFill>
              </a:rPr>
              <a:t>2,453</a:t>
            </a:r>
            <a:endParaRPr lang="en-US" sz="3400" dirty="0"/>
          </a:p>
        </p:txBody>
      </p:sp>
      <p:sp>
        <p:nvSpPr>
          <p:cNvPr id="8" name="Stat label 2"/>
          <p:cNvSpPr txBox="1"/>
          <p:nvPr/>
        </p:nvSpPr>
        <p:spPr>
          <a:xfrm>
            <a:off x="3706292" y="2377440"/>
            <a:ext cx="2086889" cy="502920"/>
          </a:xfrm>
          <a:prstGeom prst="rect">
            <a:avLst/>
          </a:prstGeom>
          <a:noFill/>
          <a:ln/>
        </p:spPr>
        <p:txBody>
          <a:bodyPr wrap="square" lIns="0" tIns="0" rIns="0" bIns="0" rtlCol="0" anchor="t"/>
          <a:lstStyle/>
          <a:p>
            <a:pPr indent="0" marL="0">
              <a:buNone/>
            </a:pPr>
            <a:r>
              <a:rPr lang="en-US" sz="1400" dirty="0">
                <a:solidFill>
                  <a:srgbClr val="4A5663"/>
                </a:solidFill>
              </a:rPr>
              <a:t>windows of 60 seconds</a:t>
            </a:r>
            <a:endParaRPr lang="en-US" sz="1400" dirty="0"/>
          </a:p>
        </p:txBody>
      </p:sp>
      <p:sp>
        <p:nvSpPr>
          <p:cNvPr id="9" name="Stat card 3"/>
          <p:cNvSpPr/>
          <p:nvPr/>
        </p:nvSpPr>
        <p:spPr>
          <a:xfrm>
            <a:off x="6197346" y="1600200"/>
            <a:ext cx="2489225" cy="1325880"/>
          </a:xfrm>
          <a:prstGeom prst="roundRect">
            <a:avLst>
              <a:gd name="adj" fmla="val 5517"/>
            </a:avLst>
          </a:prstGeom>
          <a:solidFill>
            <a:srgbClr val="FDFCF8"/>
          </a:solidFill>
          <a:ln w="9525">
            <a:solidFill>
              <a:srgbClr val="DAD7CC"/>
            </a:solidFill>
            <a:prstDash val="solid"/>
          </a:ln>
        </p:spPr>
      </p:sp>
      <p:sp>
        <p:nvSpPr>
          <p:cNvPr id="10" name="Stat value 3"/>
          <p:cNvSpPr txBox="1"/>
          <p:nvPr/>
        </p:nvSpPr>
        <p:spPr>
          <a:xfrm>
            <a:off x="6398514" y="1737360"/>
            <a:ext cx="2086889" cy="594360"/>
          </a:xfrm>
          <a:prstGeom prst="rect">
            <a:avLst/>
          </a:prstGeom>
          <a:noFill/>
          <a:ln/>
        </p:spPr>
        <p:txBody>
          <a:bodyPr wrap="square" lIns="0" tIns="0" rIns="0" bIns="0" rtlCol="0" anchor="t"/>
          <a:lstStyle/>
          <a:p>
            <a:pPr indent="0" marL="0">
              <a:buNone/>
            </a:pPr>
            <a:r>
              <a:rPr lang="en-US" sz="3400" b="1" dirty="0">
                <a:solidFill>
                  <a:schemeClr val="accent1"/>
                </a:solidFill>
              </a:rPr>
              <a:t>264</a:t>
            </a:r>
            <a:endParaRPr lang="en-US" sz="3400" dirty="0"/>
          </a:p>
        </p:txBody>
      </p:sp>
      <p:sp>
        <p:nvSpPr>
          <p:cNvPr id="11" name="Stat label 3"/>
          <p:cNvSpPr txBox="1"/>
          <p:nvPr/>
        </p:nvSpPr>
        <p:spPr>
          <a:xfrm>
            <a:off x="6398514" y="2377440"/>
            <a:ext cx="2086889" cy="502920"/>
          </a:xfrm>
          <a:prstGeom prst="rect">
            <a:avLst/>
          </a:prstGeom>
          <a:noFill/>
          <a:ln/>
        </p:spPr>
        <p:txBody>
          <a:bodyPr wrap="square" lIns="0" tIns="0" rIns="0" bIns="0" rtlCol="0" anchor="t"/>
          <a:lstStyle/>
          <a:p>
            <a:pPr indent="0" marL="0">
              <a:buNone/>
            </a:pPr>
            <a:r>
              <a:rPr lang="en-US" sz="1400" dirty="0">
                <a:solidFill>
                  <a:srgbClr val="4A5663"/>
                </a:solidFill>
              </a:rPr>
              <a:t>windows with attack traffic</a:t>
            </a:r>
            <a:endParaRPr lang="en-US" sz="1400" dirty="0"/>
          </a:p>
        </p:txBody>
      </p:sp>
      <p:sp>
        <p:nvSpPr>
          <p:cNvPr id="12" name="Stat card 4"/>
          <p:cNvSpPr/>
          <p:nvPr/>
        </p:nvSpPr>
        <p:spPr>
          <a:xfrm>
            <a:off x="8889568" y="1600200"/>
            <a:ext cx="2489225" cy="1325880"/>
          </a:xfrm>
          <a:prstGeom prst="roundRect">
            <a:avLst>
              <a:gd name="adj" fmla="val 5517"/>
            </a:avLst>
          </a:prstGeom>
          <a:solidFill>
            <a:srgbClr val="FDFCF8"/>
          </a:solidFill>
          <a:ln w="9525">
            <a:solidFill>
              <a:srgbClr val="DAD7CC"/>
            </a:solidFill>
            <a:prstDash val="solid"/>
          </a:ln>
        </p:spPr>
      </p:sp>
      <p:sp>
        <p:nvSpPr>
          <p:cNvPr id="13" name="Stat value 4"/>
          <p:cNvSpPr txBox="1"/>
          <p:nvPr/>
        </p:nvSpPr>
        <p:spPr>
          <a:xfrm>
            <a:off x="9090736" y="1737360"/>
            <a:ext cx="2086889" cy="594360"/>
          </a:xfrm>
          <a:prstGeom prst="rect">
            <a:avLst/>
          </a:prstGeom>
          <a:noFill/>
          <a:ln/>
        </p:spPr>
        <p:txBody>
          <a:bodyPr wrap="square" lIns="0" tIns="0" rIns="0" bIns="0" rtlCol="0" anchor="t"/>
          <a:lstStyle/>
          <a:p>
            <a:pPr indent="0" marL="0">
              <a:buNone/>
            </a:pPr>
            <a:r>
              <a:rPr lang="en-US" sz="3400" b="1" dirty="0">
                <a:solidFill>
                  <a:schemeClr val="accent1"/>
                </a:solidFill>
              </a:rPr>
              <a:t>41</a:t>
            </a:r>
            <a:endParaRPr lang="en-US" sz="3400" dirty="0"/>
          </a:p>
        </p:txBody>
      </p:sp>
      <p:sp>
        <p:nvSpPr>
          <p:cNvPr id="14" name="Stat label 4"/>
          <p:cNvSpPr txBox="1"/>
          <p:nvPr/>
        </p:nvSpPr>
        <p:spPr>
          <a:xfrm>
            <a:off x="9090736" y="2377440"/>
            <a:ext cx="2086889" cy="502920"/>
          </a:xfrm>
          <a:prstGeom prst="rect">
            <a:avLst/>
          </a:prstGeom>
          <a:noFill/>
          <a:ln/>
        </p:spPr>
        <p:txBody>
          <a:bodyPr wrap="square" lIns="0" tIns="0" rIns="0" bIns="0" rtlCol="0" anchor="t"/>
          <a:lstStyle/>
          <a:p>
            <a:pPr indent="0" marL="0">
              <a:buNone/>
            </a:pPr>
            <a:r>
              <a:rPr lang="en-US" sz="1400" dirty="0">
                <a:solidFill>
                  <a:srgbClr val="4A5663"/>
                </a:solidFill>
              </a:rPr>
              <a:t>attack episodes over 5 days</a:t>
            </a:r>
            <a:endParaRPr lang="en-US" sz="1400" dirty="0"/>
          </a:p>
        </p:txBody>
      </p:sp>
      <p:sp>
        <p:nvSpPr>
          <p:cNvPr id="15" name="Feature card 1"/>
          <p:cNvSpPr/>
          <p:nvPr/>
        </p:nvSpPr>
        <p:spPr>
          <a:xfrm>
            <a:off x="812902" y="3154680"/>
            <a:ext cx="3386633" cy="1783080"/>
          </a:xfrm>
          <a:prstGeom prst="roundRect">
            <a:avLst>
              <a:gd name="adj" fmla="val 4103"/>
            </a:avLst>
          </a:prstGeom>
          <a:solidFill>
            <a:srgbClr val="FDFCF8"/>
          </a:solidFill>
          <a:ln w="9525">
            <a:solidFill>
              <a:srgbClr val="DAD7CC"/>
            </a:solidFill>
            <a:prstDash val="solid"/>
          </a:ln>
        </p:spPr>
      </p:sp>
      <p:sp>
        <p:nvSpPr>
          <p:cNvPr id="16" name="Feature title 1"/>
          <p:cNvSpPr txBox="1"/>
          <p:nvPr/>
        </p:nvSpPr>
        <p:spPr>
          <a:xfrm>
            <a:off x="1041502" y="3310128"/>
            <a:ext cx="2929433" cy="365760"/>
          </a:xfrm>
          <a:prstGeom prst="rect">
            <a:avLst/>
          </a:prstGeom>
          <a:noFill/>
          <a:ln/>
        </p:spPr>
        <p:txBody>
          <a:bodyPr wrap="square" lIns="0" tIns="0" rIns="0" bIns="0" rtlCol="0" anchor="t"/>
          <a:lstStyle/>
          <a:p>
            <a:pPr indent="0" marL="0">
              <a:buNone/>
            </a:pPr>
            <a:r>
              <a:rPr lang="en-US" sz="1800" b="1" dirty="0">
                <a:solidFill>
                  <a:schemeClr val="accent1"/>
                </a:solidFill>
              </a:rPr>
              <a:t>Flow level · 22</a:t>
            </a:r>
            <a:endParaRPr lang="en-US" sz="1800" dirty="0"/>
          </a:p>
        </p:txBody>
      </p:sp>
      <p:sp>
        <p:nvSpPr>
          <p:cNvPr id="17" name="Feature text 1"/>
          <p:cNvSpPr txBox="1"/>
          <p:nvPr/>
        </p:nvSpPr>
        <p:spPr>
          <a:xfrm>
            <a:off x="1041502" y="3749040"/>
            <a:ext cx="2929433" cy="1097280"/>
          </a:xfrm>
          <a:prstGeom prst="rect">
            <a:avLst/>
          </a:prstGeom>
          <a:noFill/>
          <a:ln/>
        </p:spPr>
        <p:txBody>
          <a:bodyPr wrap="square" lIns="0" tIns="0" rIns="0" bIns="0" rtlCol="0" anchor="t"/>
          <a:lstStyle/>
          <a:p>
            <a:pPr indent="0" marL="0">
              <a:buNone/>
            </a:pPr>
            <a:r>
              <a:rPr lang="en-US" sz="1400" dirty="0">
                <a:solidFill>
                  <a:srgbClr val="2D3A47"/>
                </a:solidFill>
              </a:rPr>
              <a:t>TCP flag shares, inter-arrival stats, backward/forward ratios, scan signatures per source</a:t>
            </a:r>
            <a:endParaRPr lang="en-US" sz="1400" dirty="0"/>
          </a:p>
        </p:txBody>
      </p:sp>
      <p:sp>
        <p:nvSpPr>
          <p:cNvPr id="18" name="Feature card 2"/>
          <p:cNvSpPr/>
          <p:nvPr/>
        </p:nvSpPr>
        <p:spPr>
          <a:xfrm>
            <a:off x="4402531" y="3154680"/>
            <a:ext cx="3386633" cy="1783080"/>
          </a:xfrm>
          <a:prstGeom prst="roundRect">
            <a:avLst>
              <a:gd name="adj" fmla="val 4103"/>
            </a:avLst>
          </a:prstGeom>
          <a:solidFill>
            <a:srgbClr val="FDFCF8"/>
          </a:solidFill>
          <a:ln w="9525">
            <a:solidFill>
              <a:srgbClr val="DAD7CC"/>
            </a:solidFill>
            <a:prstDash val="solid"/>
          </a:ln>
        </p:spPr>
      </p:sp>
      <p:sp>
        <p:nvSpPr>
          <p:cNvPr id="19" name="Feature title 2"/>
          <p:cNvSpPr txBox="1"/>
          <p:nvPr/>
        </p:nvSpPr>
        <p:spPr>
          <a:xfrm>
            <a:off x="4631131" y="3310128"/>
            <a:ext cx="2929433" cy="365760"/>
          </a:xfrm>
          <a:prstGeom prst="rect">
            <a:avLst/>
          </a:prstGeom>
          <a:noFill/>
          <a:ln/>
        </p:spPr>
        <p:txBody>
          <a:bodyPr wrap="square" lIns="0" tIns="0" rIns="0" bIns="0" rtlCol="0" anchor="t"/>
          <a:lstStyle/>
          <a:p>
            <a:pPr indent="0" marL="0">
              <a:buNone/>
            </a:pPr>
            <a:r>
              <a:rPr lang="en-US" sz="1800" b="1" dirty="0">
                <a:solidFill>
                  <a:schemeClr val="accent1"/>
                </a:solidFill>
              </a:rPr>
              <a:t>Base · 13</a:t>
            </a:r>
            <a:endParaRPr lang="en-US" sz="1800" dirty="0"/>
          </a:p>
        </p:txBody>
      </p:sp>
      <p:sp>
        <p:nvSpPr>
          <p:cNvPr id="20" name="Feature text 2"/>
          <p:cNvSpPr txBox="1"/>
          <p:nvPr/>
        </p:nvSpPr>
        <p:spPr>
          <a:xfrm>
            <a:off x="4631131" y="3749040"/>
            <a:ext cx="2929433" cy="1097280"/>
          </a:xfrm>
          <a:prstGeom prst="rect">
            <a:avLst/>
          </a:prstGeom>
          <a:noFill/>
          <a:ln/>
        </p:spPr>
        <p:txBody>
          <a:bodyPr wrap="square" lIns="0" tIns="0" rIns="0" bIns="0" rtlCol="0" anchor="t"/>
          <a:lstStyle/>
          <a:p>
            <a:pPr indent="0" marL="0">
              <a:buNone/>
            </a:pPr>
            <a:r>
              <a:rPr lang="en-US" sz="1400" dirty="0">
                <a:solidFill>
                  <a:srgbClr val="2D3A47"/>
                </a:solidFill>
              </a:rPr>
              <a:t>Rates, unique hosts and ports, source entropy, top-source, top-port and top-pair shares</a:t>
            </a:r>
            <a:endParaRPr lang="en-US" sz="1400" dirty="0"/>
          </a:p>
        </p:txBody>
      </p:sp>
      <p:sp>
        <p:nvSpPr>
          <p:cNvPr id="21" name="Feature card 3"/>
          <p:cNvSpPr/>
          <p:nvPr/>
        </p:nvSpPr>
        <p:spPr>
          <a:xfrm>
            <a:off x="7992161" y="3154680"/>
            <a:ext cx="3386633" cy="1783080"/>
          </a:xfrm>
          <a:prstGeom prst="roundRect">
            <a:avLst>
              <a:gd name="adj" fmla="val 4103"/>
            </a:avLst>
          </a:prstGeom>
          <a:solidFill>
            <a:srgbClr val="FDFCF8"/>
          </a:solidFill>
          <a:ln w="9525">
            <a:solidFill>
              <a:srgbClr val="DAD7CC"/>
            </a:solidFill>
            <a:prstDash val="solid"/>
          </a:ln>
        </p:spPr>
      </p:sp>
      <p:sp>
        <p:nvSpPr>
          <p:cNvPr id="22" name="Feature title 3"/>
          <p:cNvSpPr txBox="1"/>
          <p:nvPr/>
        </p:nvSpPr>
        <p:spPr>
          <a:xfrm>
            <a:off x="8220761" y="3310128"/>
            <a:ext cx="2929433" cy="365760"/>
          </a:xfrm>
          <a:prstGeom prst="rect">
            <a:avLst/>
          </a:prstGeom>
          <a:noFill/>
          <a:ln/>
        </p:spPr>
        <p:txBody>
          <a:bodyPr wrap="square" lIns="0" tIns="0" rIns="0" bIns="0" rtlCol="0" anchor="t"/>
          <a:lstStyle/>
          <a:p>
            <a:pPr indent="0" marL="0">
              <a:buNone/>
            </a:pPr>
            <a:r>
              <a:rPr lang="en-US" sz="1800" b="1" dirty="0">
                <a:solidFill>
                  <a:schemeClr val="accent1"/>
                </a:solidFill>
              </a:rPr>
              <a:t>Packet proxies · 8</a:t>
            </a:r>
            <a:endParaRPr lang="en-US" sz="1800" dirty="0"/>
          </a:p>
        </p:txBody>
      </p:sp>
      <p:sp>
        <p:nvSpPr>
          <p:cNvPr id="23" name="Feature text 3"/>
          <p:cNvSpPr txBox="1"/>
          <p:nvPr/>
        </p:nvSpPr>
        <p:spPr>
          <a:xfrm>
            <a:off x="8220761" y="3749040"/>
            <a:ext cx="2929433" cy="1097280"/>
          </a:xfrm>
          <a:prstGeom prst="rect">
            <a:avLst/>
          </a:prstGeom>
          <a:noFill/>
          <a:ln/>
        </p:spPr>
        <p:txBody>
          <a:bodyPr wrap="square" lIns="0" tIns="0" rIns="0" bIns="0" rtlCol="0" anchor="t"/>
          <a:lstStyle/>
          <a:p>
            <a:pPr indent="0" marL="0">
              <a:buNone/>
            </a:pPr>
            <a:r>
              <a:rPr lang="en-US" sz="1400" dirty="0">
                <a:solidFill>
                  <a:srgbClr val="2D3A47"/>
                </a:solidFill>
              </a:rPr>
              <a:t>First-packet TCP window and per-flow packet-size distribution, the most a CSV offers</a:t>
            </a:r>
            <a:endParaRPr lang="en-US" sz="1400" dirty="0"/>
          </a:p>
        </p:txBody>
      </p:sp>
      <p:sp>
        <p:nvSpPr>
          <p:cNvPr id="24" name="Caveat callout"/>
          <p:cNvSpPr/>
          <p:nvPr/>
        </p:nvSpPr>
        <p:spPr>
          <a:xfrm>
            <a:off x="812902" y="5166360"/>
            <a:ext cx="10565892" cy="822960"/>
          </a:xfrm>
          <a:prstGeom prst="roundRect">
            <a:avLst>
              <a:gd name="adj" fmla="val 8889"/>
            </a:avLst>
          </a:prstGeom>
          <a:solidFill>
            <a:srgbClr val="EFE6D2"/>
          </a:solidFill>
          <a:ln/>
        </p:spPr>
      </p:sp>
      <p:sp>
        <p:nvSpPr>
          <p:cNvPr id="25" name="Caveat text"/>
          <p:cNvSpPr txBox="1"/>
          <p:nvPr/>
        </p:nvSpPr>
        <p:spPr>
          <a:xfrm>
            <a:off x="1041502" y="5303520"/>
            <a:ext cx="10108692" cy="594360"/>
          </a:xfrm>
          <a:prstGeom prst="rect">
            <a:avLst/>
          </a:prstGeom>
          <a:noFill/>
          <a:ln/>
        </p:spPr>
        <p:txBody>
          <a:bodyPr wrap="square" lIns="0" tIns="0" rIns="0" bIns="0" rtlCol="0" anchor="ctr"/>
          <a:lstStyle/>
          <a:p>
            <a:pPr indent="0" marL="0">
              <a:buNone/>
            </a:pPr>
            <a:r>
              <a:rPr lang="en-US" sz="1400" b="1" dirty="0">
                <a:solidFill>
                  <a:srgbClr val="3A2A08"/>
                </a:solidFill>
              </a:rPr>
              <a:t>PCAP input also yields TTL, fragmentation flags and retransmissions. </a:t>
            </a:r>
            <a:pPr indent="0" marL="0">
              <a:buNone/>
            </a:pPr>
            <a:r>
              <a:rPr lang="en-US" sz="1400" dirty="0">
                <a:solidFill>
                  <a:srgbClr val="3A2A08"/>
                </a:solidFill>
              </a:rPr>
              <a:t>A CSV cannot supply them, so the trained model does not use them.</a:t>
            </a:r>
            <a:endParaRPr lang="en-US" sz="1400" dirty="0"/>
          </a:p>
        </p:txBody>
      </p:sp>
      <p:sp>
        <p:nvSpPr>
          <p:cNvPr id="26" name="Footer note"/>
          <p:cNvSpPr txBox="1"/>
          <p:nvPr/>
        </p:nvSpPr>
        <p:spPr>
          <a:xfrm>
            <a:off x="812902" y="6263640"/>
            <a:ext cx="10565892" cy="274320"/>
          </a:xfrm>
          <a:prstGeom prst="rect">
            <a:avLst/>
          </a:prstGeom>
          <a:noFill/>
          <a:ln/>
        </p:spPr>
        <p:txBody>
          <a:bodyPr wrap="square" lIns="0" tIns="0" rIns="0" bIns="0" rtlCol="0" anchor="t"/>
          <a:lstStyle/>
          <a:p>
            <a:pPr indent="0" marL="0">
              <a:buNone/>
            </a:pPr>
            <a:r>
              <a:rPr lang="en-US" sz="1200" dirty="0">
                <a:solidFill>
                  <a:srgbClr val="4A5663"/>
                </a:solidFill>
              </a:rPr>
              <a:t>Scaler fit on benign training windows only. Attacks start abruptly at one-minute resolution.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12902" y="777240"/>
            <a:ext cx="10565892" cy="868680"/>
          </a:xfrm>
          <a:prstGeom prst="rect">
            <a:avLst/>
          </a:prstGeom>
          <a:noFill/>
          <a:ln/>
        </p:spPr>
        <p:txBody>
          <a:bodyPr wrap="square" lIns="0" tIns="0" rIns="0" bIns="0" rtlCol="0" anchor="t"/>
          <a:lstStyle/>
          <a:p>
            <a:pPr indent="0" marL="0">
              <a:buNone/>
            </a:pPr>
            <a:r>
              <a:rPr lang="en-US" sz="3200" b="1" dirty="0">
                <a:solidFill>
                  <a:schemeClr val="tx1"/>
                </a:solidFill>
              </a:rPr>
              <a:t>Rollout, ATT&amp;CK stage and SHAP on every prediction</a:t>
            </a:r>
            <a:endParaRPr lang="en-US" sz="3200" dirty="0"/>
          </a:p>
        </p:txBody>
      </p:sp>
      <p:sp>
        <p:nvSpPr>
          <p:cNvPr id="3" name="Engine card"/>
          <p:cNvSpPr/>
          <p:nvPr/>
        </p:nvSpPr>
        <p:spPr>
          <a:xfrm>
            <a:off x="812902" y="1783080"/>
            <a:ext cx="5181448" cy="2377440"/>
          </a:xfrm>
          <a:prstGeom prst="roundRect">
            <a:avLst>
              <a:gd name="adj" fmla="val 3077"/>
            </a:avLst>
          </a:prstGeom>
          <a:solidFill>
            <a:srgbClr val="FDFCF8"/>
          </a:solidFill>
          <a:ln w="9525">
            <a:solidFill>
              <a:srgbClr val="DAD7CC"/>
            </a:solidFill>
            <a:prstDash val="solid"/>
          </a:ln>
        </p:spPr>
      </p:sp>
      <p:sp>
        <p:nvSpPr>
          <p:cNvPr id="4" name="Engine title"/>
          <p:cNvSpPr txBox="1"/>
          <p:nvPr/>
        </p:nvSpPr>
        <p:spPr>
          <a:xfrm>
            <a:off x="1041502" y="1947672"/>
            <a:ext cx="4724248" cy="365760"/>
          </a:xfrm>
          <a:prstGeom prst="rect">
            <a:avLst/>
          </a:prstGeom>
          <a:noFill/>
          <a:ln/>
        </p:spPr>
        <p:txBody>
          <a:bodyPr wrap="square" lIns="0" tIns="0" rIns="0" bIns="0" rtlCol="0" anchor="t"/>
          <a:lstStyle/>
          <a:p>
            <a:pPr indent="0" marL="0">
              <a:buNone/>
            </a:pPr>
            <a:r>
              <a:rPr lang="en-US" sz="1800" b="1" dirty="0">
                <a:solidFill>
                  <a:schemeClr val="accent1"/>
                </a:solidFill>
              </a:rPr>
              <a:t>Prediction engine</a:t>
            </a:r>
            <a:endParaRPr lang="en-US" sz="1800" dirty="0"/>
          </a:p>
        </p:txBody>
      </p:sp>
      <p:sp>
        <p:nvSpPr>
          <p:cNvPr id="5" name="Engine steps"/>
          <p:cNvSpPr txBox="1"/>
          <p:nvPr/>
        </p:nvSpPr>
        <p:spPr>
          <a:xfrm>
            <a:off x="1041502" y="2423160"/>
            <a:ext cx="4724248" cy="160020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400" dirty="0">
                <a:solidFill>
                  <a:srgbClr val="2D3A47"/>
                </a:solidFill>
              </a:rPr>
              <a:t>An LSTM (100,702 parameters) reads 6 windows and predicts a Gaussian over the next state.</a:t>
            </a:r>
            <a:endParaRPr lang="en-US" sz="1400" dirty="0"/>
          </a:p>
          <a:p>
            <a:pPr marL="342900" indent="-342900">
              <a:spcAft>
                <a:spcPts val="1000"/>
              </a:spcAft>
              <a:buSzPct val="100000"/>
              <a:buFont typeface="+mj-lt"/>
              <a:buAutoNum type="arabicPeriod" startAt="1"/>
            </a:pPr>
            <a:r>
              <a:rPr lang="en-US" sz="1400" dirty="0">
                <a:solidFill>
                  <a:srgbClr val="2D3A47"/>
                </a:solidFill>
              </a:rPr>
              <a:t>A 6-step rollout feeds the predicted state back in.</a:t>
            </a:r>
            <a:endParaRPr lang="en-US" sz="1400" dirty="0"/>
          </a:p>
          <a:p>
            <a:pPr marL="342900" indent="-342900">
              <a:buSzPct val="100000"/>
              <a:buFont typeface="+mj-lt"/>
              <a:buAutoNum type="arabicPeriod" startAt="1"/>
            </a:pPr>
            <a:r>
              <a:rPr lang="en-US" sz="1400" dirty="0">
                <a:solidFill>
                  <a:srgbClr val="2D3A47"/>
                </a:solidFill>
              </a:rPr>
              <a:t>Heads read P(infiltration) and the stage at every step; those losses use real history steps only.</a:t>
            </a:r>
            <a:endParaRPr lang="en-US" sz="1400" dirty="0"/>
          </a:p>
        </p:txBody>
      </p:sp>
      <p:sp>
        <p:nvSpPr>
          <p:cNvPr id="6" name="Validation card"/>
          <p:cNvSpPr/>
          <p:nvPr/>
        </p:nvSpPr>
        <p:spPr>
          <a:xfrm>
            <a:off x="6197346" y="1783080"/>
            <a:ext cx="5181448" cy="2377440"/>
          </a:xfrm>
          <a:prstGeom prst="roundRect">
            <a:avLst>
              <a:gd name="adj" fmla="val 3077"/>
            </a:avLst>
          </a:prstGeom>
          <a:solidFill>
            <a:srgbClr val="FDFCF8"/>
          </a:solidFill>
          <a:ln w="9525">
            <a:solidFill>
              <a:srgbClr val="DAD7CC"/>
            </a:solidFill>
            <a:prstDash val="solid"/>
          </a:ln>
        </p:spPr>
      </p:sp>
      <p:sp>
        <p:nvSpPr>
          <p:cNvPr id="7" name="Validation title"/>
          <p:cNvSpPr txBox="1"/>
          <p:nvPr/>
        </p:nvSpPr>
        <p:spPr>
          <a:xfrm>
            <a:off x="6425946" y="1947672"/>
            <a:ext cx="4724248" cy="365760"/>
          </a:xfrm>
          <a:prstGeom prst="rect">
            <a:avLst/>
          </a:prstGeom>
          <a:noFill/>
          <a:ln/>
        </p:spPr>
        <p:txBody>
          <a:bodyPr wrap="square" lIns="0" tIns="0" rIns="0" bIns="0" rtlCol="0" anchor="t"/>
          <a:lstStyle/>
          <a:p>
            <a:pPr indent="0" marL="0">
              <a:buNone/>
            </a:pPr>
            <a:r>
              <a:rPr lang="en-US" sz="1800" b="1" dirty="0">
                <a:solidFill>
                  <a:schemeClr val="accent1"/>
                </a:solidFill>
              </a:rPr>
              <a:t>Explanations, validated</a:t>
            </a:r>
            <a:endParaRPr lang="en-US" sz="1800" dirty="0"/>
          </a:p>
        </p:txBody>
      </p:sp>
      <p:sp>
        <p:nvSpPr>
          <p:cNvPr id="8" name="Metric 1"/>
          <p:cNvSpPr txBox="1"/>
          <p:nvPr/>
        </p:nvSpPr>
        <p:spPr>
          <a:xfrm>
            <a:off x="6425946" y="2468880"/>
            <a:ext cx="1600200" cy="411480"/>
          </a:xfrm>
          <a:prstGeom prst="rect">
            <a:avLst/>
          </a:prstGeom>
          <a:noFill/>
          <a:ln/>
        </p:spPr>
        <p:txBody>
          <a:bodyPr wrap="square" lIns="0" tIns="0" rIns="0" bIns="0" rtlCol="0" anchor="t"/>
          <a:lstStyle/>
          <a:p>
            <a:pPr indent="0" marL="0">
              <a:buNone/>
            </a:pPr>
            <a:r>
              <a:rPr lang="en-US" sz="2000" b="1" dirty="0">
                <a:solidFill>
                  <a:schemeClr val="tx1"/>
                </a:solidFill>
              </a:rPr>
              <a:t>r = 0.99</a:t>
            </a:r>
            <a:endParaRPr lang="en-US" sz="2000" dirty="0"/>
          </a:p>
        </p:txBody>
      </p:sp>
      <p:sp>
        <p:nvSpPr>
          <p:cNvPr id="9" name="Metric label 1"/>
          <p:cNvSpPr txBox="1"/>
          <p:nvPr/>
        </p:nvSpPr>
        <p:spPr>
          <a:xfrm>
            <a:off x="8071866" y="2505456"/>
            <a:ext cx="3078328" cy="457200"/>
          </a:xfrm>
          <a:prstGeom prst="rect">
            <a:avLst/>
          </a:prstGeom>
          <a:noFill/>
          <a:ln/>
        </p:spPr>
        <p:txBody>
          <a:bodyPr wrap="square" lIns="0" tIns="0" rIns="0" bIns="0" rtlCol="0" anchor="t"/>
          <a:lstStyle/>
          <a:p>
            <a:pPr indent="0" marL="0">
              <a:buNone/>
            </a:pPr>
            <a:r>
              <a:rPr lang="en-US" sz="1400" dirty="0">
                <a:solidFill>
                  <a:srgbClr val="2D3A47"/>
                </a:solidFill>
              </a:rPr>
              <a:t>agreement with the shap library</a:t>
            </a:r>
            <a:endParaRPr lang="en-US" sz="1400" dirty="0"/>
          </a:p>
        </p:txBody>
      </p:sp>
      <p:sp>
        <p:nvSpPr>
          <p:cNvPr id="10" name="Metric 2"/>
          <p:cNvSpPr txBox="1"/>
          <p:nvPr/>
        </p:nvSpPr>
        <p:spPr>
          <a:xfrm>
            <a:off x="6425946" y="2999232"/>
            <a:ext cx="1600200" cy="411480"/>
          </a:xfrm>
          <a:prstGeom prst="rect">
            <a:avLst/>
          </a:prstGeom>
          <a:noFill/>
          <a:ln/>
        </p:spPr>
        <p:txBody>
          <a:bodyPr wrap="square" lIns="0" tIns="0" rIns="0" bIns="0" rtlCol="0" anchor="t"/>
          <a:lstStyle/>
          <a:p>
            <a:pPr indent="0" marL="0">
              <a:buNone/>
            </a:pPr>
            <a:r>
              <a:rPr lang="en-US" sz="2000" b="1" dirty="0">
                <a:solidFill>
                  <a:schemeClr val="tx1"/>
                </a:solidFill>
              </a:rPr>
              <a:t>2.1 vs 0.1</a:t>
            </a:r>
            <a:endParaRPr lang="en-US" sz="2000" dirty="0"/>
          </a:p>
        </p:txBody>
      </p:sp>
      <p:sp>
        <p:nvSpPr>
          <p:cNvPr id="11" name="Metric label 2"/>
          <p:cNvSpPr txBox="1"/>
          <p:nvPr/>
        </p:nvSpPr>
        <p:spPr>
          <a:xfrm>
            <a:off x="8071866" y="3035808"/>
            <a:ext cx="3078328" cy="457200"/>
          </a:xfrm>
          <a:prstGeom prst="rect">
            <a:avLst/>
          </a:prstGeom>
          <a:noFill/>
          <a:ln/>
        </p:spPr>
        <p:txBody>
          <a:bodyPr wrap="square" lIns="0" tIns="0" rIns="0" bIns="0" rtlCol="0" anchor="t"/>
          <a:lstStyle/>
          <a:p>
            <a:pPr indent="0" marL="0">
              <a:buNone/>
            </a:pPr>
            <a:r>
              <a:rPr lang="en-US" sz="1400" dirty="0">
                <a:solidFill>
                  <a:srgbClr val="2D3A47"/>
                </a:solidFill>
              </a:rPr>
              <a:t>logit drop deleting the top 3 features vs random ones</a:t>
            </a:r>
            <a:endParaRPr lang="en-US" sz="1400" dirty="0"/>
          </a:p>
        </p:txBody>
      </p:sp>
      <p:sp>
        <p:nvSpPr>
          <p:cNvPr id="12" name="Metric 3"/>
          <p:cNvSpPr txBox="1"/>
          <p:nvPr/>
        </p:nvSpPr>
        <p:spPr>
          <a:xfrm>
            <a:off x="6425946" y="3529584"/>
            <a:ext cx="1600200" cy="411480"/>
          </a:xfrm>
          <a:prstGeom prst="rect">
            <a:avLst/>
          </a:prstGeom>
          <a:noFill/>
          <a:ln/>
        </p:spPr>
        <p:txBody>
          <a:bodyPr wrap="square" lIns="0" tIns="0" rIns="0" bIns="0" rtlCol="0" anchor="t"/>
          <a:lstStyle/>
          <a:p>
            <a:pPr indent="0" marL="0">
              <a:buNone/>
            </a:pPr>
            <a:r>
              <a:rPr lang="en-US" sz="2000" b="1" dirty="0">
                <a:solidFill>
                  <a:schemeClr val="tx1"/>
                </a:solidFill>
              </a:rPr>
              <a:t>9.5%</a:t>
            </a:r>
            <a:endParaRPr lang="en-US" sz="2000" dirty="0"/>
          </a:p>
        </p:txBody>
      </p:sp>
      <p:sp>
        <p:nvSpPr>
          <p:cNvPr id="13" name="Metric label 3"/>
          <p:cNvSpPr txBox="1"/>
          <p:nvPr/>
        </p:nvSpPr>
        <p:spPr>
          <a:xfrm>
            <a:off x="8071866" y="3566160"/>
            <a:ext cx="3078328" cy="457200"/>
          </a:xfrm>
          <a:prstGeom prst="rect">
            <a:avLst/>
          </a:prstGeom>
          <a:noFill/>
          <a:ln/>
        </p:spPr>
        <p:txBody>
          <a:bodyPr wrap="square" lIns="0" tIns="0" rIns="0" bIns="0" rtlCol="0" anchor="t"/>
          <a:lstStyle/>
          <a:p>
            <a:pPr indent="0" marL="0">
              <a:buNone/>
            </a:pPr>
            <a:r>
              <a:rPr lang="en-US" sz="1400" dirty="0">
                <a:solidFill>
                  <a:srgbClr val="2D3A47"/>
                </a:solidFill>
              </a:rPr>
              <a:t>completeness error: approximate, not exact</a:t>
            </a:r>
            <a:endParaRPr lang="en-US" sz="1400" dirty="0"/>
          </a:p>
        </p:txBody>
      </p:sp>
      <p:sp>
        <p:nvSpPr>
          <p:cNvPr id="14" name="Stage mapping panel"/>
          <p:cNvSpPr/>
          <p:nvPr/>
        </p:nvSpPr>
        <p:spPr>
          <a:xfrm>
            <a:off x="812902" y="4343400"/>
            <a:ext cx="10565892" cy="1600200"/>
          </a:xfrm>
          <a:prstGeom prst="roundRect">
            <a:avLst>
              <a:gd name="adj" fmla="val 4571"/>
            </a:avLst>
          </a:prstGeom>
          <a:solidFill>
            <a:srgbClr val="14202E"/>
          </a:solidFill>
          <a:ln/>
        </p:spPr>
      </p:sp>
      <p:sp>
        <p:nvSpPr>
          <p:cNvPr id="15" name="Stage eyebrow"/>
          <p:cNvSpPr txBox="1"/>
          <p:nvPr/>
        </p:nvSpPr>
        <p:spPr>
          <a:xfrm>
            <a:off x="1087222" y="4480560"/>
            <a:ext cx="10017252" cy="274320"/>
          </a:xfrm>
          <a:prstGeom prst="rect">
            <a:avLst/>
          </a:prstGeom>
          <a:noFill/>
          <a:ln/>
        </p:spPr>
        <p:txBody>
          <a:bodyPr wrap="square" lIns="0" tIns="0" rIns="0" bIns="0" rtlCol="0" anchor="t"/>
          <a:lstStyle/>
          <a:p>
            <a:pPr indent="0" marL="0">
              <a:buNone/>
            </a:pPr>
            <a:r>
              <a:rPr lang="en-US" sz="1200" b="1" spc="200" kern="0" dirty="0">
                <a:solidFill>
                  <a:srgbClr val="6FD6CB"/>
                </a:solidFill>
              </a:rPr>
              <a:t>STAGE MAPPING</a:t>
            </a:r>
            <a:endParaRPr lang="en-US" sz="1200" dirty="0"/>
          </a:p>
        </p:txBody>
      </p:sp>
      <p:sp>
        <p:nvSpPr>
          <p:cNvPr id="16" name="Stage mapping"/>
          <p:cNvSpPr txBox="1"/>
          <p:nvPr/>
        </p:nvSpPr>
        <p:spPr>
          <a:xfrm>
            <a:off x="1087222" y="4800600"/>
            <a:ext cx="10017252" cy="502920"/>
          </a:xfrm>
          <a:prstGeom prst="rect">
            <a:avLst/>
          </a:prstGeom>
          <a:noFill/>
          <a:ln/>
        </p:spPr>
        <p:txBody>
          <a:bodyPr wrap="square" lIns="0" tIns="0" rIns="0" bIns="0" rtlCol="0" anchor="t"/>
          <a:lstStyle/>
          <a:p>
            <a:pPr indent="0" marL="0">
              <a:buNone/>
            </a:pPr>
            <a:r>
              <a:rPr lang="en-US" sz="1400" dirty="0">
                <a:solidFill>
                  <a:srgbClr val="F1EFE8"/>
                </a:solidFill>
              </a:rPr>
              <a:t>PortScan = Recon  ·  Patator and web attacks = Initial Access  ·  Infiltration = Lateral Movement  ·  Bot = C2</a:t>
            </a:r>
            <a:endParaRPr lang="en-US" sz="1400" dirty="0"/>
          </a:p>
        </p:txBody>
      </p:sp>
      <p:sp>
        <p:nvSpPr>
          <p:cNvPr id="17" name="Stage caveat"/>
          <p:cNvSpPr txBox="1"/>
          <p:nvPr/>
        </p:nvSpPr>
        <p:spPr>
          <a:xfrm>
            <a:off x="1087222" y="5394960"/>
            <a:ext cx="10017252" cy="457200"/>
          </a:xfrm>
          <a:prstGeom prst="rect">
            <a:avLst/>
          </a:prstGeom>
          <a:noFill/>
          <a:ln/>
        </p:spPr>
        <p:txBody>
          <a:bodyPr wrap="square" lIns="0" tIns="0" rIns="0" bIns="0" rtlCol="0" anchor="t"/>
          <a:lstStyle/>
          <a:p>
            <a:pPr indent="0" marL="0">
              <a:buNone/>
            </a:pPr>
            <a:r>
              <a:rPr lang="en-US" sz="1400" b="1" dirty="0">
                <a:solidFill>
                  <a:srgbClr val="F2B766"/>
                </a:solidFill>
              </a:rPr>
              <a:t>DoS and DDoS are Impact, outside the five stages. No label is Exfiltration, so that output cannot be learned.</a:t>
            </a:r>
            <a:endParaRPr lang="en-US" sz="1400" dirty="0"/>
          </a:p>
        </p:txBody>
      </p:sp>
      <p:sp>
        <p:nvSpPr>
          <p:cNvPr id="18" name="Footer note"/>
          <p:cNvSpPr txBox="1"/>
          <p:nvPr/>
        </p:nvSpPr>
        <p:spPr>
          <a:xfrm>
            <a:off x="812902" y="6263640"/>
            <a:ext cx="10565892" cy="274320"/>
          </a:xfrm>
          <a:prstGeom prst="rect">
            <a:avLst/>
          </a:prstGeom>
          <a:noFill/>
          <a:ln/>
        </p:spPr>
        <p:txBody>
          <a:bodyPr wrap="square" lIns="0" tIns="0" rIns="0" bIns="0" rtlCol="0" anchor="t"/>
          <a:lstStyle/>
          <a:p>
            <a:pPr indent="0" marL="0">
              <a:buNone/>
            </a:pPr>
            <a:r>
              <a:rPr lang="en-US" sz="1200" dirty="0">
                <a:solidFill>
                  <a:srgbClr val="4A5663"/>
                </a:solidFill>
              </a:rPr>
              <a:t>Host counterfactual: removing either host of the DDoS pair from the lookback drops P from 1.00 to about 0.07 to 0.11.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12902" y="777240"/>
            <a:ext cx="10565892" cy="868680"/>
          </a:xfrm>
          <a:prstGeom prst="rect">
            <a:avLst/>
          </a:prstGeom>
          <a:noFill/>
          <a:ln/>
        </p:spPr>
        <p:txBody>
          <a:bodyPr wrap="square" lIns="0" tIns="0" rIns="0" bIns="0" rtlCol="0" anchor="t"/>
          <a:lstStyle/>
          <a:p>
            <a:pPr indent="0" marL="0">
              <a:buNone/>
            </a:pPr>
            <a:r>
              <a:rPr lang="en-US" sz="3200" b="1" dirty="0">
                <a:solidFill>
                  <a:schemeClr val="tx1"/>
                </a:solidFill>
              </a:rPr>
              <a:t>The temporal model does not beat logistic regression</a:t>
            </a:r>
            <a:endParaRPr lang="en-US" sz="3200" dirty="0"/>
          </a:p>
        </p:txBody>
      </p:sp>
      <p:sp>
        <p:nvSpPr>
          <p:cNvPr id="3" name="Chart card"/>
          <p:cNvSpPr/>
          <p:nvPr/>
        </p:nvSpPr>
        <p:spPr>
          <a:xfrm>
            <a:off x="812902" y="1874520"/>
            <a:ext cx="5852160" cy="3566160"/>
          </a:xfrm>
          <a:prstGeom prst="roundRect">
            <a:avLst>
              <a:gd name="adj" fmla="val 2051"/>
            </a:avLst>
          </a:prstGeom>
          <a:solidFill>
            <a:srgbClr val="FDFCF8"/>
          </a:solidFill>
          <a:ln w="9525">
            <a:solidFill>
              <a:srgbClr val="DAD7CC"/>
            </a:solidFill>
            <a:prstDash val="solid"/>
          </a:ln>
        </p:spPr>
      </p:sp>
      <p:sp>
        <p:nvSpPr>
          <p:cNvPr id="4" name="Chart title"/>
          <p:cNvSpPr txBox="1"/>
          <p:nvPr/>
        </p:nvSpPr>
        <p:spPr>
          <a:xfrm>
            <a:off x="1041502" y="2039112"/>
            <a:ext cx="5394960" cy="320040"/>
          </a:xfrm>
          <a:prstGeom prst="rect">
            <a:avLst/>
          </a:prstGeom>
          <a:noFill/>
          <a:ln/>
        </p:spPr>
        <p:txBody>
          <a:bodyPr wrap="square" lIns="0" tIns="0" rIns="0" bIns="0" rtlCol="0" anchor="t"/>
          <a:lstStyle/>
          <a:p>
            <a:pPr indent="0" marL="0">
              <a:buNone/>
            </a:pPr>
            <a:r>
              <a:rPr lang="en-US" sz="1600" b="1" dirty="0">
                <a:solidFill>
                  <a:schemeClr val="tx1"/>
                </a:solidFill>
              </a:rPr>
              <a:t>PR-AUC, detecting the current window</a:t>
            </a:r>
            <a:endParaRPr lang="en-US" sz="1600" dirty="0"/>
          </a:p>
        </p:txBody>
      </p:sp>
      <p:sp>
        <p:nvSpPr>
          <p:cNvPr id="5" name="Bar label 1"/>
          <p:cNvSpPr txBox="1"/>
          <p:nvPr/>
        </p:nvSpPr>
        <p:spPr>
          <a:xfrm>
            <a:off x="1041502" y="2606040"/>
            <a:ext cx="1691640" cy="365760"/>
          </a:xfrm>
          <a:prstGeom prst="rect">
            <a:avLst/>
          </a:prstGeom>
          <a:noFill/>
          <a:ln/>
        </p:spPr>
        <p:txBody>
          <a:bodyPr wrap="square" lIns="0" tIns="0" rIns="0" bIns="0" rtlCol="0" anchor="t"/>
          <a:lstStyle/>
          <a:p>
            <a:pPr indent="0" marL="0">
              <a:buNone/>
            </a:pPr>
            <a:r>
              <a:rPr lang="en-US" sz="1400" dirty="0">
                <a:solidFill>
                  <a:srgbClr val="2D3A47"/>
                </a:solidFill>
              </a:rPr>
              <a:t>Logistic regression</a:t>
            </a:r>
            <a:endParaRPr lang="en-US" sz="1400" dirty="0"/>
          </a:p>
        </p:txBody>
      </p:sp>
      <p:sp>
        <p:nvSpPr>
          <p:cNvPr id="6" name="Bar 1"/>
          <p:cNvSpPr/>
          <p:nvPr/>
        </p:nvSpPr>
        <p:spPr>
          <a:xfrm>
            <a:off x="2778862" y="2560320"/>
            <a:ext cx="2743200" cy="420624"/>
          </a:xfrm>
          <a:prstGeom prst="rect">
            <a:avLst/>
          </a:prstGeom>
          <a:solidFill>
            <a:srgbClr val="1F6F69"/>
          </a:solidFill>
          <a:ln/>
        </p:spPr>
      </p:sp>
      <p:sp>
        <p:nvSpPr>
          <p:cNvPr id="7" name="Bar value 1"/>
          <p:cNvSpPr txBox="1"/>
          <p:nvPr/>
        </p:nvSpPr>
        <p:spPr>
          <a:xfrm>
            <a:off x="5631790" y="2606040"/>
            <a:ext cx="640080" cy="365760"/>
          </a:xfrm>
          <a:prstGeom prst="rect">
            <a:avLst/>
          </a:prstGeom>
          <a:noFill/>
          <a:ln/>
        </p:spPr>
        <p:txBody>
          <a:bodyPr wrap="square" lIns="0" tIns="0" rIns="0" bIns="0" rtlCol="0" anchor="t"/>
          <a:lstStyle/>
          <a:p>
            <a:pPr indent="0" marL="0">
              <a:buNone/>
            </a:pPr>
            <a:r>
              <a:rPr lang="en-US" sz="1400" b="1" dirty="0">
                <a:solidFill>
                  <a:schemeClr val="tx1"/>
                </a:solidFill>
              </a:rPr>
              <a:t>0.45</a:t>
            </a:r>
            <a:endParaRPr lang="en-US" sz="1400" dirty="0"/>
          </a:p>
        </p:txBody>
      </p:sp>
      <p:sp>
        <p:nvSpPr>
          <p:cNvPr id="8" name="Bar label 2"/>
          <p:cNvSpPr txBox="1"/>
          <p:nvPr/>
        </p:nvSpPr>
        <p:spPr>
          <a:xfrm>
            <a:off x="1041502" y="3209544"/>
            <a:ext cx="1691640" cy="365760"/>
          </a:xfrm>
          <a:prstGeom prst="rect">
            <a:avLst/>
          </a:prstGeom>
          <a:noFill/>
          <a:ln/>
        </p:spPr>
        <p:txBody>
          <a:bodyPr wrap="square" lIns="0" tIns="0" rIns="0" bIns="0" rtlCol="0" anchor="t"/>
          <a:lstStyle/>
          <a:p>
            <a:pPr indent="0" marL="0">
              <a:buNone/>
            </a:pPr>
            <a:r>
              <a:rPr lang="en-US" sz="1400" dirty="0">
                <a:solidFill>
                  <a:srgbClr val="2D3A47"/>
                </a:solidFill>
              </a:rPr>
              <a:t>LSTM classifier</a:t>
            </a:r>
            <a:endParaRPr lang="en-US" sz="1400" dirty="0"/>
          </a:p>
        </p:txBody>
      </p:sp>
      <p:sp>
        <p:nvSpPr>
          <p:cNvPr id="9" name="Bar 2"/>
          <p:cNvSpPr/>
          <p:nvPr/>
        </p:nvSpPr>
        <p:spPr>
          <a:xfrm>
            <a:off x="2778862" y="3163824"/>
            <a:ext cx="2128869" cy="420624"/>
          </a:xfrm>
          <a:prstGeom prst="rect">
            <a:avLst/>
          </a:prstGeom>
          <a:solidFill>
            <a:srgbClr val="7C93A8"/>
          </a:solidFill>
          <a:ln/>
        </p:spPr>
      </p:sp>
      <p:sp>
        <p:nvSpPr>
          <p:cNvPr id="10" name="Bar value 2"/>
          <p:cNvSpPr txBox="1"/>
          <p:nvPr/>
        </p:nvSpPr>
        <p:spPr>
          <a:xfrm>
            <a:off x="5017459" y="3209544"/>
            <a:ext cx="640080" cy="365760"/>
          </a:xfrm>
          <a:prstGeom prst="rect">
            <a:avLst/>
          </a:prstGeom>
          <a:noFill/>
          <a:ln/>
        </p:spPr>
        <p:txBody>
          <a:bodyPr wrap="square" lIns="0" tIns="0" rIns="0" bIns="0" rtlCol="0" anchor="t"/>
          <a:lstStyle/>
          <a:p>
            <a:pPr indent="0" marL="0">
              <a:buNone/>
            </a:pPr>
            <a:r>
              <a:rPr lang="en-US" sz="1400" b="1" dirty="0">
                <a:solidFill>
                  <a:schemeClr val="tx1"/>
                </a:solidFill>
              </a:rPr>
              <a:t>0.35</a:t>
            </a:r>
            <a:endParaRPr lang="en-US" sz="1400" dirty="0"/>
          </a:p>
        </p:txBody>
      </p:sp>
      <p:sp>
        <p:nvSpPr>
          <p:cNvPr id="11" name="Bar label 3"/>
          <p:cNvSpPr txBox="1"/>
          <p:nvPr/>
        </p:nvSpPr>
        <p:spPr>
          <a:xfrm>
            <a:off x="1041502" y="3813048"/>
            <a:ext cx="1691640" cy="365760"/>
          </a:xfrm>
          <a:prstGeom prst="rect">
            <a:avLst/>
          </a:prstGeom>
          <a:noFill/>
          <a:ln/>
        </p:spPr>
        <p:txBody>
          <a:bodyPr wrap="square" lIns="0" tIns="0" rIns="0" bIns="0" rtlCol="0" anchor="t"/>
          <a:lstStyle/>
          <a:p>
            <a:pPr indent="0" marL="0">
              <a:buNone/>
            </a:pPr>
            <a:r>
              <a:rPr lang="en-US" sz="1400" dirty="0">
                <a:solidFill>
                  <a:srgbClr val="2D3A47"/>
                </a:solidFill>
              </a:rPr>
              <a:t>World model</a:t>
            </a:r>
            <a:endParaRPr lang="en-US" sz="1400" dirty="0"/>
          </a:p>
        </p:txBody>
      </p:sp>
      <p:sp>
        <p:nvSpPr>
          <p:cNvPr id="12" name="Bar 3"/>
          <p:cNvSpPr/>
          <p:nvPr/>
        </p:nvSpPr>
        <p:spPr>
          <a:xfrm>
            <a:off x="2778862" y="3767328"/>
            <a:ext cx="1818663" cy="420624"/>
          </a:xfrm>
          <a:prstGeom prst="rect">
            <a:avLst/>
          </a:prstGeom>
          <a:solidFill>
            <a:srgbClr val="C98A1F"/>
          </a:solidFill>
          <a:ln/>
        </p:spPr>
      </p:sp>
      <p:sp>
        <p:nvSpPr>
          <p:cNvPr id="13" name="Bar value 3"/>
          <p:cNvSpPr txBox="1"/>
          <p:nvPr/>
        </p:nvSpPr>
        <p:spPr>
          <a:xfrm>
            <a:off x="4707252" y="3813048"/>
            <a:ext cx="640080" cy="365760"/>
          </a:xfrm>
          <a:prstGeom prst="rect">
            <a:avLst/>
          </a:prstGeom>
          <a:noFill/>
          <a:ln/>
        </p:spPr>
        <p:txBody>
          <a:bodyPr wrap="square" lIns="0" tIns="0" rIns="0" bIns="0" rtlCol="0" anchor="t"/>
          <a:lstStyle/>
          <a:p>
            <a:pPr indent="0" marL="0">
              <a:buNone/>
            </a:pPr>
            <a:r>
              <a:rPr lang="en-US" sz="1400" b="1" dirty="0">
                <a:solidFill>
                  <a:schemeClr val="tx1"/>
                </a:solidFill>
              </a:rPr>
              <a:t>0.30</a:t>
            </a:r>
            <a:endParaRPr lang="en-US" sz="1400" dirty="0"/>
          </a:p>
        </p:txBody>
      </p:sp>
      <p:sp>
        <p:nvSpPr>
          <p:cNvPr id="14" name="Chart caption"/>
          <p:cNvSpPr txBox="1"/>
          <p:nvPr/>
        </p:nvSpPr>
        <p:spPr>
          <a:xfrm>
            <a:off x="1041502" y="4526280"/>
            <a:ext cx="5394960" cy="777240"/>
          </a:xfrm>
          <a:prstGeom prst="rect">
            <a:avLst/>
          </a:prstGeom>
          <a:noFill/>
          <a:ln/>
        </p:spPr>
        <p:txBody>
          <a:bodyPr wrap="square" lIns="0" tIns="0" rIns="0" bIns="0" rtlCol="0" anchor="t"/>
          <a:lstStyle/>
          <a:p>
            <a:pPr indent="0" marL="0">
              <a:buNone/>
            </a:pPr>
            <a:r>
              <a:rPr lang="en-US" sz="1200" dirty="0">
                <a:solidFill>
                  <a:srgbClr val="4A5663"/>
                </a:solidFill>
              </a:rPr>
              <a:t>95% CI: 0.23 to 0.67, 0.16 to 0.59, 0.14 to 0.53. World model minus logistic regression: -0.14 [-0.35, +0.05], not significant. F1: 0.43, 0.31, 0.30.</a:t>
            </a:r>
            <a:endParaRPr lang="en-US" sz="1200" dirty="0"/>
          </a:p>
        </p:txBody>
      </p:sp>
      <p:sp>
        <p:nvSpPr>
          <p:cNvPr id="15" name="Findings"/>
          <p:cNvSpPr txBox="1"/>
          <p:nvPr/>
        </p:nvSpPr>
        <p:spPr>
          <a:xfrm>
            <a:off x="7030822" y="1920240"/>
            <a:ext cx="4347972" cy="3474720"/>
          </a:xfrm>
          <a:prstGeom prst="rect">
            <a:avLst/>
          </a:prstGeom>
          <a:noFill/>
          <a:ln/>
        </p:spPr>
        <p:txBody>
          <a:bodyPr wrap="square" lIns="0" tIns="0" rIns="0" bIns="0" rtlCol="0" anchor="t"/>
          <a:lstStyle/>
          <a:p>
            <a:pPr marL="342900" indent="-342900">
              <a:buSzPct val="100000"/>
              <a:buChar char="•"/>
            </a:pPr>
            <a:r>
              <a:rPr lang="en-US" sz="1500" b="1" dirty="0">
                <a:solidFill>
                  <a:srgbClr val="2D3A47"/>
                </a:solidFill>
              </a:rPr>
              <a:t>The fix that mattered: </a:t>
            </a:r>
            <a:pPr indent="0" marL="0">
              <a:spcAft>
                <a:spcPts val="1200"/>
              </a:spcAft>
              <a:buNone/>
            </a:pPr>
            <a:r>
              <a:rPr lang="en-US" sz="1500" dirty="0">
                <a:solidFill>
                  <a:srgbClr val="2D3A47"/>
                </a:solidFill>
              </a:rPr>
              <a:t>training the infiltration head only on real steps, not imagined future ones, lifted the world model from 0.22 to 0.30.</a:t>
            </a:r>
            <a:endParaRPr lang="en-US" sz="1500" dirty="0"/>
          </a:p>
          <a:p>
            <a:pPr marL="342900" indent="-342900">
              <a:buSzPct val="100000"/>
              <a:buChar char="•"/>
            </a:pPr>
            <a:r>
              <a:rPr lang="en-US" sz="1500" b="1" dirty="0">
                <a:solidFill>
                  <a:srgbClr val="2D3A47"/>
                </a:solidFill>
              </a:rPr>
              <a:t>Forecasting 3 minutes ahead: </a:t>
            </a:r>
            <a:pPr indent="0" marL="0">
              <a:spcAft>
                <a:spcPts val="1200"/>
              </a:spcAft>
              <a:buNone/>
            </a:pPr>
            <a:r>
              <a:rPr lang="en-US" sz="1500" dirty="0">
                <a:solidFill>
                  <a:srgbClr val="2D3A47"/>
                </a:solidFill>
              </a:rPr>
              <a:t>PR-AUC 0.18 to 0.27 against a base rate of 0.11; the world model is highest, but 11 of 12 comparisons are not significant.</a:t>
            </a:r>
            <a:endParaRPr lang="en-US" sz="1500" dirty="0"/>
          </a:p>
          <a:p>
            <a:pPr marL="342900" indent="-342900">
              <a:buSzPct val="100000"/>
              <a:buChar char="•"/>
            </a:pPr>
            <a:r>
              <a:rPr lang="en-US" sz="1500" b="1" dirty="0">
                <a:solidFill>
                  <a:srgbClr val="2D3A47"/>
                </a:solidFill>
              </a:rPr>
              <a:t>Unseen attack types: </a:t>
            </a:r>
            <a:pPr indent="0" marL="0">
              <a:spcAft>
                <a:spcPts val="1200"/>
              </a:spcAft>
              <a:buNone/>
            </a:pPr>
            <a:r>
              <a:rPr lang="en-US" sz="1500" dirty="0">
                <a:solidFill>
                  <a:srgbClr val="2D3A47"/>
                </a:solidFill>
              </a:rPr>
              <a:t>mean recall 0.36 for logistic regression, 0.21 for the world model.</a:t>
            </a:r>
            <a:endParaRPr lang="en-US" sz="1500" dirty="0"/>
          </a:p>
          <a:p>
            <a:pPr marL="342900" indent="-342900">
              <a:buSzPct val="100000"/>
              <a:buChar char="•"/>
            </a:pPr>
            <a:r>
              <a:rPr lang="en-US" sz="1500" b="1" dirty="0">
                <a:solidFill>
                  <a:srgbClr val="2D3A47"/>
                </a:solidFill>
              </a:rPr>
              <a:t>Dynamics: </a:t>
            </a:r>
            <a:pPr indent="0" marL="0">
              <a:buNone/>
            </a:pPr>
            <a:r>
              <a:rPr lang="en-US" sz="1500" dirty="0">
                <a:solidFill>
                  <a:srgbClr val="2D3A47"/>
                </a:solidFill>
              </a:rPr>
              <a:t>the learned next-state model ties a linear AR(1) predictor one step ahead and loses further out.</a:t>
            </a:r>
            <a:endParaRPr lang="en-US" sz="1500" dirty="0"/>
          </a:p>
        </p:txBody>
      </p:sp>
      <p:sp>
        <p:nvSpPr>
          <p:cNvPr id="16" name="Footer note"/>
          <p:cNvSpPr txBox="1"/>
          <p:nvPr/>
        </p:nvSpPr>
        <p:spPr>
          <a:xfrm>
            <a:off x="812902" y="6263640"/>
            <a:ext cx="10565892" cy="274320"/>
          </a:xfrm>
          <a:prstGeom prst="rect">
            <a:avLst/>
          </a:prstGeom>
          <a:noFill/>
          <a:ln/>
        </p:spPr>
        <p:txBody>
          <a:bodyPr wrap="square" lIns="0" tIns="0" rIns="0" bIns="0" rtlCol="0" anchor="t"/>
          <a:lstStyle/>
          <a:p>
            <a:pPr indent="0" marL="0">
              <a:buNone/>
            </a:pPr>
            <a:r>
              <a:rPr lang="en-US" sz="1200" dirty="0">
                <a:solidFill>
                  <a:srgbClr val="4A5663"/>
                </a:solidFill>
              </a:rPr>
              <a:t>Blocked 5-fold CV with purge, 3 seeds, block-bootstrap CIs. 2,095 test samples, 11% attack windows.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12902" y="777240"/>
            <a:ext cx="10565892" cy="868680"/>
          </a:xfrm>
          <a:prstGeom prst="rect">
            <a:avLst/>
          </a:prstGeom>
          <a:noFill/>
          <a:ln/>
        </p:spPr>
        <p:txBody>
          <a:bodyPr wrap="square" lIns="0" tIns="0" rIns="0" bIns="0" rtlCol="0" anchor="t"/>
          <a:lstStyle/>
          <a:p>
            <a:pPr indent="0" marL="0">
              <a:buNone/>
            </a:pPr>
            <a:r>
              <a:rPr lang="en-US" sz="3200" b="1" dirty="0">
                <a:solidFill>
                  <a:srgbClr val="F1EFE8"/>
                </a:solidFill>
              </a:rPr>
              <a:t>What works, what does not, what next</a:t>
            </a:r>
            <a:endParaRPr lang="en-US" sz="3200" dirty="0"/>
          </a:p>
        </p:txBody>
      </p:sp>
      <p:sp>
        <p:nvSpPr>
          <p:cNvPr id="3" name="Column card 1"/>
          <p:cNvSpPr/>
          <p:nvPr/>
        </p:nvSpPr>
        <p:spPr>
          <a:xfrm>
            <a:off x="812902" y="1600200"/>
            <a:ext cx="3386633" cy="2743200"/>
          </a:xfrm>
          <a:prstGeom prst="roundRect">
            <a:avLst>
              <a:gd name="adj" fmla="val 2667"/>
            </a:avLst>
          </a:prstGeom>
          <a:solidFill>
            <a:srgbClr val="1B3045"/>
          </a:solidFill>
          <a:ln/>
        </p:spPr>
      </p:sp>
      <p:sp>
        <p:nvSpPr>
          <p:cNvPr id="4" name="Column title 1"/>
          <p:cNvSpPr txBox="1"/>
          <p:nvPr/>
        </p:nvSpPr>
        <p:spPr>
          <a:xfrm>
            <a:off x="1068934" y="1783080"/>
            <a:ext cx="2874569" cy="411480"/>
          </a:xfrm>
          <a:prstGeom prst="rect">
            <a:avLst/>
          </a:prstGeom>
          <a:noFill/>
          <a:ln/>
        </p:spPr>
        <p:txBody>
          <a:bodyPr wrap="square" lIns="0" tIns="0" rIns="0" bIns="0" rtlCol="0" anchor="t"/>
          <a:lstStyle/>
          <a:p>
            <a:pPr indent="0" marL="0">
              <a:buNone/>
            </a:pPr>
            <a:r>
              <a:rPr lang="en-US" sz="1800" b="1" dirty="0">
                <a:solidFill>
                  <a:srgbClr val="6FD6CB"/>
                </a:solidFill>
              </a:rPr>
              <a:t>Demo</a:t>
            </a:r>
            <a:endParaRPr lang="en-US" sz="1800" dirty="0"/>
          </a:p>
        </p:txBody>
      </p:sp>
      <p:sp>
        <p:nvSpPr>
          <p:cNvPr id="5" name="Column items 1"/>
          <p:cNvSpPr txBox="1"/>
          <p:nvPr/>
        </p:nvSpPr>
        <p:spPr>
          <a:xfrm>
            <a:off x="1068934" y="2331720"/>
            <a:ext cx="2874569" cy="19202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E3E8ED"/>
                </a:solidFill>
              </a:rPr>
              <a:t>Upload a CSV or a PCAP, fully offline</a:t>
            </a:r>
            <a:endParaRPr lang="en-US" sz="1400" dirty="0"/>
          </a:p>
          <a:p>
            <a:pPr marL="342900" indent="-342900">
              <a:spcAft>
                <a:spcPts val="1000"/>
              </a:spcAft>
              <a:buSzPct val="100000"/>
              <a:buChar char="•"/>
            </a:pPr>
            <a:r>
              <a:rPr lang="en-US" sz="1400" dirty="0">
                <a:solidFill>
                  <a:srgbClr val="E3E8ED"/>
                </a:solidFill>
              </a:rPr>
              <a:t>Probability timeline, stage markers, flagged windows</a:t>
            </a:r>
            <a:endParaRPr lang="en-US" sz="1400" dirty="0"/>
          </a:p>
          <a:p>
            <a:pPr marL="342900" indent="-342900">
              <a:spcAft>
                <a:spcPts val="1000"/>
              </a:spcAft>
              <a:buSzPct val="100000"/>
              <a:buChar char="•"/>
            </a:pPr>
            <a:r>
              <a:rPr lang="en-US" sz="1400" dirty="0">
                <a:solidFill>
                  <a:srgbClr val="E3E8ED"/>
                </a:solidFill>
              </a:rPr>
              <a:t>SHAP drivers and host counterfactuals</a:t>
            </a:r>
            <a:endParaRPr lang="en-US" sz="1400" dirty="0"/>
          </a:p>
        </p:txBody>
      </p:sp>
      <p:sp>
        <p:nvSpPr>
          <p:cNvPr id="6" name="Column card 2"/>
          <p:cNvSpPr/>
          <p:nvPr/>
        </p:nvSpPr>
        <p:spPr>
          <a:xfrm>
            <a:off x="4402531" y="1600200"/>
            <a:ext cx="3386633" cy="2743200"/>
          </a:xfrm>
          <a:prstGeom prst="roundRect">
            <a:avLst>
              <a:gd name="adj" fmla="val 2667"/>
            </a:avLst>
          </a:prstGeom>
          <a:solidFill>
            <a:srgbClr val="1B3045"/>
          </a:solidFill>
          <a:ln/>
        </p:spPr>
      </p:sp>
      <p:sp>
        <p:nvSpPr>
          <p:cNvPr id="7" name="Column title 2"/>
          <p:cNvSpPr txBox="1"/>
          <p:nvPr/>
        </p:nvSpPr>
        <p:spPr>
          <a:xfrm>
            <a:off x="4658563" y="1783080"/>
            <a:ext cx="2874569" cy="411480"/>
          </a:xfrm>
          <a:prstGeom prst="rect">
            <a:avLst/>
          </a:prstGeom>
          <a:noFill/>
          <a:ln/>
        </p:spPr>
        <p:txBody>
          <a:bodyPr wrap="square" lIns="0" tIns="0" rIns="0" bIns="0" rtlCol="0" anchor="t"/>
          <a:lstStyle/>
          <a:p>
            <a:pPr indent="0" marL="0">
              <a:buNone/>
            </a:pPr>
            <a:r>
              <a:rPr lang="en-US" sz="1800" b="1" dirty="0">
                <a:solidFill>
                  <a:srgbClr val="F2B766"/>
                </a:solidFill>
              </a:rPr>
              <a:t>Limits</a:t>
            </a:r>
            <a:endParaRPr lang="en-US" sz="1800" dirty="0"/>
          </a:p>
        </p:txBody>
      </p:sp>
      <p:sp>
        <p:nvSpPr>
          <p:cNvPr id="8" name="Column items 2"/>
          <p:cNvSpPr txBox="1"/>
          <p:nvPr/>
        </p:nvSpPr>
        <p:spPr>
          <a:xfrm>
            <a:off x="4658563" y="2331720"/>
            <a:ext cx="2874569" cy="19202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E3E8ED"/>
                </a:solidFill>
              </a:rPr>
              <a:t>41 episodes in one lab network, minute resolution</a:t>
            </a:r>
            <a:endParaRPr lang="en-US" sz="1400" dirty="0"/>
          </a:p>
          <a:p>
            <a:pPr marL="342900" indent="-342900">
              <a:spcAft>
                <a:spcPts val="1000"/>
              </a:spcAft>
              <a:buSzPct val="100000"/>
              <a:buChar char="•"/>
            </a:pPr>
            <a:r>
              <a:rPr lang="en-US" sz="1400" dirty="0">
                <a:solidFill>
                  <a:srgbClr val="E3E8ED"/>
                </a:solidFill>
              </a:rPr>
              <a:t>Demo weights trained on all days; the sample is in-sample</a:t>
            </a:r>
            <a:endParaRPr lang="en-US" sz="1400" dirty="0"/>
          </a:p>
          <a:p>
            <a:pPr marL="342900" indent="-342900">
              <a:spcAft>
                <a:spcPts val="1000"/>
              </a:spcAft>
              <a:buSzPct val="100000"/>
              <a:buChar char="•"/>
            </a:pPr>
            <a:r>
              <a:rPr lang="en-US" sz="1400" dirty="0">
                <a:solidFill>
                  <a:srgbClr val="E3E8ED"/>
                </a:solidFill>
              </a:rPr>
              <a:t>Thresholds drift across days</a:t>
            </a:r>
            <a:endParaRPr lang="en-US" sz="1400" dirty="0"/>
          </a:p>
        </p:txBody>
      </p:sp>
      <p:sp>
        <p:nvSpPr>
          <p:cNvPr id="9" name="Column card 3"/>
          <p:cNvSpPr/>
          <p:nvPr/>
        </p:nvSpPr>
        <p:spPr>
          <a:xfrm>
            <a:off x="7992161" y="1600200"/>
            <a:ext cx="3386633" cy="2743200"/>
          </a:xfrm>
          <a:prstGeom prst="roundRect">
            <a:avLst>
              <a:gd name="adj" fmla="val 2667"/>
            </a:avLst>
          </a:prstGeom>
          <a:solidFill>
            <a:srgbClr val="1B3045"/>
          </a:solidFill>
          <a:ln/>
        </p:spPr>
      </p:sp>
      <p:sp>
        <p:nvSpPr>
          <p:cNvPr id="10" name="Column title 3"/>
          <p:cNvSpPr txBox="1"/>
          <p:nvPr/>
        </p:nvSpPr>
        <p:spPr>
          <a:xfrm>
            <a:off x="8248193" y="1783080"/>
            <a:ext cx="2874569" cy="411480"/>
          </a:xfrm>
          <a:prstGeom prst="rect">
            <a:avLst/>
          </a:prstGeom>
          <a:noFill/>
          <a:ln/>
        </p:spPr>
        <p:txBody>
          <a:bodyPr wrap="square" lIns="0" tIns="0" rIns="0" bIns="0" rtlCol="0" anchor="t"/>
          <a:lstStyle/>
          <a:p>
            <a:pPr indent="0" marL="0">
              <a:buNone/>
            </a:pPr>
            <a:r>
              <a:rPr lang="en-US" sz="1800" b="1" dirty="0">
                <a:solidFill>
                  <a:srgbClr val="C9D4DE"/>
                </a:solidFill>
              </a:rPr>
              <a:t>Next</a:t>
            </a:r>
            <a:endParaRPr lang="en-US" sz="1800" dirty="0"/>
          </a:p>
        </p:txBody>
      </p:sp>
      <p:sp>
        <p:nvSpPr>
          <p:cNvPr id="11" name="Column items 3"/>
          <p:cNvSpPr txBox="1"/>
          <p:nvPr/>
        </p:nvSpPr>
        <p:spPr>
          <a:xfrm>
            <a:off x="8248193" y="2331720"/>
            <a:ext cx="2874569" cy="19202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E3E8ED"/>
                </a:solidFill>
              </a:rPr>
              <a:t>CIC-IDS2018 or CTU-13: finer time, multi-stage attacks</a:t>
            </a:r>
            <a:endParaRPr lang="en-US" sz="1400" dirty="0"/>
          </a:p>
          <a:p>
            <a:pPr marL="342900" indent="-342900">
              <a:spcAft>
                <a:spcPts val="1000"/>
              </a:spcAft>
              <a:buSzPct val="100000"/>
              <a:buChar char="•"/>
            </a:pPr>
            <a:r>
              <a:rPr lang="en-US" sz="1400" dirty="0">
                <a:solidFill>
                  <a:srgbClr val="E3E8ED"/>
                </a:solidFill>
              </a:rPr>
              <a:t>Stronger regularisation of the world model</a:t>
            </a:r>
            <a:endParaRPr lang="en-US" sz="1400" dirty="0"/>
          </a:p>
          <a:p>
            <a:pPr marL="342900" indent="-342900">
              <a:spcAft>
                <a:spcPts val="1000"/>
              </a:spcAft>
              <a:buSzPct val="100000"/>
              <a:buChar char="•"/>
            </a:pPr>
            <a:r>
              <a:rPr lang="en-US" sz="1400" dirty="0">
                <a:solidFill>
                  <a:srgbClr val="E3E8ED"/>
                </a:solidFill>
              </a:rPr>
              <a:t>Host-level graph state</a:t>
            </a:r>
            <a:endParaRPr lang="en-US" sz="1400" dirty="0"/>
          </a:p>
        </p:txBody>
      </p:sp>
      <p:sp>
        <p:nvSpPr>
          <p:cNvPr id="12" name="Contribution"/>
          <p:cNvSpPr txBox="1"/>
          <p:nvPr/>
        </p:nvSpPr>
        <p:spPr>
          <a:xfrm>
            <a:off x="812902" y="4709160"/>
            <a:ext cx="10565892" cy="822960"/>
          </a:xfrm>
          <a:prstGeom prst="rect">
            <a:avLst/>
          </a:prstGeom>
          <a:noFill/>
          <a:ln/>
        </p:spPr>
        <p:txBody>
          <a:bodyPr wrap="square" lIns="0" tIns="0" rIns="0" bIns="0" rtlCol="0" anchor="t"/>
          <a:lstStyle/>
          <a:p>
            <a:pPr indent="0" marL="0">
              <a:buNone/>
            </a:pPr>
            <a:r>
              <a:rPr lang="en-US" sz="1600" dirty="0">
                <a:solidFill>
                  <a:srgbClr val="F1EFE8"/>
                </a:solidFill>
              </a:rPr>
              <a:t>The contribution: a reproducible, explainable baseline and an evaluation protocol that exposes weaknesses instead of hiding them.</a:t>
            </a:r>
            <a:endParaRPr lang="en-US" sz="1600" dirty="0"/>
          </a:p>
        </p:txBody>
      </p:sp>
      <p:sp>
        <p:nvSpPr>
          <p:cNvPr id="13" name="Footer note"/>
          <p:cNvSpPr txBox="1"/>
          <p:nvPr/>
        </p:nvSpPr>
        <p:spPr>
          <a:xfrm>
            <a:off x="812902" y="6263640"/>
            <a:ext cx="10565892" cy="274320"/>
          </a:xfrm>
          <a:prstGeom prst="rect">
            <a:avLst/>
          </a:prstGeom>
          <a:noFill/>
          <a:ln/>
        </p:spPr>
        <p:txBody>
          <a:bodyPr wrap="square" lIns="0" tIns="0" rIns="0" bIns="0" rtlCol="0" anchor="t"/>
          <a:lstStyle/>
          <a:p>
            <a:pPr indent="0" marL="0">
              <a:buNone/>
            </a:pPr>
            <a:r>
              <a:rPr lang="en-US" sz="1200" dirty="0">
                <a:solidFill>
                  <a:srgbClr val="9FB0C0"/>
                </a:solidFill>
              </a:rPr>
              <a:t>github.com/ydhitler1-arch/network-attack-world-model  ·  MIT licence  ·  fixed seeds, config, weights and tests included</a:t>
            </a:r>
            <a:endParaRPr lang="en-US" sz="1200" dirty="0"/>
          </a:p>
        </p:txBody>
      </p:sp>
    </p:spTree>
  </p:cSld>
  <p:clrMapOvr>
    <a:masterClrMapping/>
  </p:clrMapOvr>
</p:sld>
</file>

<file path=ppt/theme/theme1.xml><?xml version="1.0" encoding="utf-8"?>
<a:theme xmlns:a="http://schemas.openxmlformats.org/drawingml/2006/main" name="World model early warning">
  <a:themeElements>
    <a:clrScheme name="World model early warning">
      <a:dk1>
        <a:srgbClr val="14202E"/>
      </a:dk1>
      <a:lt1>
        <a:srgbClr val="F6F5F0"/>
      </a:lt1>
      <a:dk2>
        <a:srgbClr val="12202F"/>
      </a:dk2>
      <a:lt2>
        <a:srgbClr val="FDFCF8"/>
      </a:lt2>
      <a:accent1>
        <a:srgbClr val="1F6F69"/>
      </a:accent1>
      <a:accent2>
        <a:srgbClr val="C98A1F"/>
      </a:accent2>
      <a:accent3>
        <a:srgbClr val="7C93A8"/>
      </a:accent3>
      <a:accent4>
        <a:srgbClr val="6FD6CB"/>
      </a:accent4>
      <a:accent5>
        <a:srgbClr val="F2B766"/>
      </a:accent5>
      <a:accent6>
        <a:srgbClr val="1B3045"/>
      </a:accent6>
      <a:hlink>
        <a:srgbClr val="1F6F69"/>
      </a:hlink>
      <a:folHlink>
        <a:srgbClr val="7C93A8"/>
      </a:folHlink>
    </a:clrScheme>
    <a:fontScheme name="World model early warn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World-model early warning: SIH PS 26153</dc:title>
  <dc:subject>PptxGenJS Presentation</dc:subject>
  <dc:creator>Devan</dc:creator>
  <cp:lastModifiedBy>Devan</cp:lastModifiedBy>
  <cp:revision>1</cp:revision>
  <dcterms:created xsi:type="dcterms:W3CDTF">2026-10-11T17:38:29Z</dcterms:created>
  <dcterms:modified xsi:type="dcterms:W3CDTF">2026-10-11T17:38:29Z</dcterms:modified>
</cp:coreProperties>
</file>