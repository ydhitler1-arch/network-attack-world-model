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approach" id="{aacb0ad1-9c79-1187-f813-37b3c37a777d}">
          <p14:sldIdLst>
            <p14:sldId id="256"/>
          </p14:sldIdLst>
        </p14:section>
        <p14:section name="Data and state vector" id="{78f5cbb6-be27-1c02-e3dd-05d7d3dcc069}">
          <p14:sldIdLst>
            <p14:sldId id="257"/>
          </p14:sldIdLst>
        </p14:section>
        <p14:section name="World model and explanations" id="{9e2b8728-2372-cc66-ddbb-e2a5a1f1c6d2}">
          <p14:sldIdLst>
            <p14:sldId id="258"/>
          </p14:sldIdLst>
        </p14:section>
        <p14:section name="Results" id="{ff7f35fb-7282-fd01-4032-3b2f0204e3ca}">
          <p14:sldIdLst>
            <p14:sldId id="259"/>
          </p14:sldIdLst>
        </p14:section>
        <p14:section name="Demo, limits, next" id="{6d5dd962-2dad-8930-3c4f-c28bf30faa4d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framing: we built the complete system the problem statement describes and evaluated it honestly, including where the idea does not work. Reactive IDS classifies flows after the fact; PS 26153 asks for a model of how network state evolves so infiltration risk can be estimated before the kill chain completes. Walk the figure left to right: input, state vector, world model with rollout, prediction, explanation, offline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CIC-IDS2017: 2.83M flows, 2,453 windows of 60 seconds, 264 attack windows, 41 attack episodes over 5 days. 43 features: 13 base, 22 flow level, 8 packet-level proxies available in a CSV. The PCAP path built with Scapy also extracts TTL and its variance, fragmentation flags and retransmissions, verified on a synthetic capture. The trained model does not use them because the training data cannot provide them. Earlier finding worth mentioning: no precursor signal before attacks at this resolution (DDoS, Hulk, PortScan checked), so forecasting at one-minute resolution is at chance.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model: one LSTM cell, 128 hidden units, 100,702 parameters. After consuming a state it outputs a Gaussian over the next state (current state plus a learned delta), an infiltration logit and an ATT&amp;CK stage over 7 classes. It reads 6 windows, then rolls out 6 steps feeding its predicted mean state back in, so we get a probability series for the current window and the next six. Explanations use the expected-gradients SHAP estimator, implemented to differentiate through the rollout. Validation: r = 0.99 with the shap library; deleting the top 3, 5 and 10 features lowers the logit by 1.27, 1.74 and 2.73 against about zero for random features; completeness residual 8.8%, so explanations are approximate. Be explicit about the stage mapping caveats: DoS and DDoS fit none of the five stages so they get a sixth class, and no CIC-IDS2017 label is Exfiltration.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Protocol: blocked 5-fold cross-validation with 60-window blocks and a 12-window purge, scaler refit per fold, thresholds calibrated on a validation fold for a 2% false-alarm target, 3 seeds, block-bootstrap confidence intervals, plus leave-one-attack-type-out. Detecting the current window: logistic regression PR-AUC 0.451, F1 0.43; LSTM classifier 0.350, F1 0.31; world model 0.219, F1 0.20. The paired difference between world model and logistic regression is -0.22 with CI -0.41 to -0.05, so it is significant. The requirement that the temporal model show a measurable improvement is not met on this data. Likely cause, stated as a hypothesis we did not test: a 100k-parameter model overfits about 1,500 overlapping samples, and 41 episodes is too little for dynamics learning. Forecasting 3 minutes ahead: PR-AUC 0.18 to 0.25 for all models, consistent with the earlier finding that attacks start abruptly.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upload a flow CSV or PCAP, show the probability timeline, ATT&amp;CK stage markers, flagged windows with SHAP drivers, and the host counterfactual that removes the DDoS pair and drops the probability. Limits to state plainly: 41 attack episodes in 5 days of one lab network, minute-resolution timestamps, demo weights trained on all days so the bundled sample is in-sample, stage head cannot output Exfiltration, thresholds drift across days. Next steps: a finer-resolution dataset with multi-stage attacks (CIC-IDS2018 or CTU-13), stronger regularisation, host-level graph state. Close on the contribution: a reproducible, explainable baseline and an evaluation protocol (purged blocked CV, leave-one-attack-type-out) that exposes weaknesses instead of hiding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20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902" y="1097280"/>
            <a:ext cx="1056589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rgbClr val="F1EFE8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902" y="777240"/>
            <a:ext cx="1056589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0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902" y="777240"/>
            <a:ext cx="1056589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F1EFE8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12902" y="640080"/>
            <a:ext cx="10565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D6CB"/>
                </a:solidFill>
              </a:rPr>
              <a:t>SIH 2026  ·  PS 26153  ·  AI-BASED NETWORK ATTACK FORECASTING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2902" y="1097280"/>
            <a:ext cx="105658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1EFE8"/>
                </a:solidFill>
              </a:rPr>
              <a:t>A learned world model of network state, tested honestly</a:t>
            </a:r>
            <a:endParaRPr lang="en-US" sz="4200" dirty="0"/>
          </a:p>
        </p:txBody>
      </p:sp>
      <p:sp>
        <p:nvSpPr>
          <p:cNvPr id="4" name="Approach bullets"/>
          <p:cNvSpPr txBox="1"/>
          <p:nvPr/>
        </p:nvSpPr>
        <p:spPr>
          <a:xfrm>
            <a:off x="812902" y="2880360"/>
            <a:ext cx="44448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D5DCE3"/>
                </a:solidFill>
              </a:rPr>
              <a:t>Traffic becomes a 60 second state vector; an LSTM learns what the next state looks like.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D5DCE3"/>
                </a:solidFill>
              </a:rPr>
              <a:t>A 6-step rollout gives P(infiltration) and an ATT&amp;CK stage, and SHAP explains every output.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D5DCE3"/>
                </a:solidFill>
              </a:rPr>
              <a:t>Built end to end and benchmarked on CIC-IDS2017. The headline is a </a:t>
            </a:r>
            <a:pPr indent="0" marL="0">
              <a:buNone/>
            </a:pPr>
            <a:r>
              <a:rPr lang="en-US" sz="1500" b="1" dirty="0">
                <a:solidFill>
                  <a:srgbClr val="F2B766"/>
                </a:solidFill>
              </a:rPr>
              <a:t>negative result</a:t>
            </a:r>
            <a:pPr indent="0" marL="0">
              <a:buNone/>
            </a:pPr>
            <a:r>
              <a:rPr lang="en-US" sz="1500" dirty="0">
                <a:solidFill>
                  <a:srgbClr val="D5DCE3"/>
                </a:solidFill>
              </a:rPr>
              <a:t>.</a:t>
            </a:r>
            <a:endParaRPr lang="en-US" sz="1500" dirty="0"/>
          </a:p>
        </p:txBody>
      </p:sp>
      <p:sp>
        <p:nvSpPr>
          <p:cNvPr id="5" name="Figure card"/>
          <p:cNvSpPr/>
          <p:nvPr/>
        </p:nvSpPr>
        <p:spPr>
          <a:xfrm>
            <a:off x="5663794" y="2880360"/>
            <a:ext cx="5715000" cy="2606040"/>
          </a:xfrm>
          <a:prstGeom prst="roundRect">
            <a:avLst>
              <a:gd name="adj" fmla="val 2807"/>
            </a:avLst>
          </a:prstGeom>
          <a:solidFill>
            <a:srgbClr val="F6F5F0"/>
          </a:solidFill>
          <a:ln/>
        </p:spPr>
      </p:sp>
      <p:pic>
        <p:nvPicPr>
          <p:cNvPr id="6" name="Image 0" descr="Architecture: input flows or PCAP, 43-feature state, LSTM world model with rollout, prediction, SHAP explanation, offline dem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6224" y="3032790"/>
            <a:ext cx="5410230" cy="2301270"/>
          </a:xfrm>
          <a:prstGeom prst="rect">
            <a:avLst/>
          </a:prstGeom>
        </p:spPr>
      </p:pic>
      <p:sp>
        <p:nvSpPr>
          <p:cNvPr id="7" name="Footer note"/>
          <p:cNvSpPr txBox="1"/>
          <p:nvPr/>
        </p:nvSpPr>
        <p:spPr>
          <a:xfrm>
            <a:off x="812902" y="6263640"/>
            <a:ext cx="10565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0C0"/>
                </a:solidFill>
              </a:rPr>
              <a:t>github.com/ydhitler1-arch/network-attack-world-model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902" y="777240"/>
            <a:ext cx="10565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43 features describe each minute of traffic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812902" y="1600200"/>
            <a:ext cx="2489225" cy="1325880"/>
          </a:xfrm>
          <a:prstGeom prst="roundRect">
            <a:avLst>
              <a:gd name="adj" fmla="val 5517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4" name="Stat value 1"/>
          <p:cNvSpPr txBox="1"/>
          <p:nvPr/>
        </p:nvSpPr>
        <p:spPr>
          <a:xfrm>
            <a:off x="1014070" y="1737360"/>
            <a:ext cx="20868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2.83M</a:t>
            </a:r>
            <a:endParaRPr lang="en-US" sz="3400" dirty="0"/>
          </a:p>
        </p:txBody>
      </p:sp>
      <p:sp>
        <p:nvSpPr>
          <p:cNvPr id="5" name="Stat label 1"/>
          <p:cNvSpPr txBox="1"/>
          <p:nvPr/>
        </p:nvSpPr>
        <p:spPr>
          <a:xfrm>
            <a:off x="1014070" y="2377440"/>
            <a:ext cx="20868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663"/>
                </a:solidFill>
              </a:rPr>
              <a:t>flows after cleaning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3505124" y="1600200"/>
            <a:ext cx="2489225" cy="1325880"/>
          </a:xfrm>
          <a:prstGeom prst="roundRect">
            <a:avLst>
              <a:gd name="adj" fmla="val 5517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7" name="Stat value 2"/>
          <p:cNvSpPr txBox="1"/>
          <p:nvPr/>
        </p:nvSpPr>
        <p:spPr>
          <a:xfrm>
            <a:off x="3706292" y="1737360"/>
            <a:ext cx="20868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2,453</a:t>
            </a:r>
            <a:endParaRPr lang="en-US" sz="3400" dirty="0"/>
          </a:p>
        </p:txBody>
      </p:sp>
      <p:sp>
        <p:nvSpPr>
          <p:cNvPr id="8" name="Stat label 2"/>
          <p:cNvSpPr txBox="1"/>
          <p:nvPr/>
        </p:nvSpPr>
        <p:spPr>
          <a:xfrm>
            <a:off x="3706292" y="2377440"/>
            <a:ext cx="20868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663"/>
                </a:solidFill>
              </a:rPr>
              <a:t>windows of 60 seconds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6197346" y="1600200"/>
            <a:ext cx="2489225" cy="1325880"/>
          </a:xfrm>
          <a:prstGeom prst="roundRect">
            <a:avLst>
              <a:gd name="adj" fmla="val 5517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10" name="Stat value 3"/>
          <p:cNvSpPr txBox="1"/>
          <p:nvPr/>
        </p:nvSpPr>
        <p:spPr>
          <a:xfrm>
            <a:off x="6398514" y="1737360"/>
            <a:ext cx="20868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264</a:t>
            </a:r>
            <a:endParaRPr lang="en-US" sz="3400" dirty="0"/>
          </a:p>
        </p:txBody>
      </p:sp>
      <p:sp>
        <p:nvSpPr>
          <p:cNvPr id="11" name="Stat label 3"/>
          <p:cNvSpPr txBox="1"/>
          <p:nvPr/>
        </p:nvSpPr>
        <p:spPr>
          <a:xfrm>
            <a:off x="6398514" y="2377440"/>
            <a:ext cx="20868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663"/>
                </a:solidFill>
              </a:rPr>
              <a:t>windows with attack traffic</a:t>
            </a:r>
            <a:endParaRPr lang="en-US" sz="1400" dirty="0"/>
          </a:p>
        </p:txBody>
      </p:sp>
      <p:sp>
        <p:nvSpPr>
          <p:cNvPr id="12" name="Stat card 4"/>
          <p:cNvSpPr/>
          <p:nvPr/>
        </p:nvSpPr>
        <p:spPr>
          <a:xfrm>
            <a:off x="8889568" y="1600200"/>
            <a:ext cx="2489225" cy="1325880"/>
          </a:xfrm>
          <a:prstGeom prst="roundRect">
            <a:avLst>
              <a:gd name="adj" fmla="val 5517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13" name="Stat value 4"/>
          <p:cNvSpPr txBox="1"/>
          <p:nvPr/>
        </p:nvSpPr>
        <p:spPr>
          <a:xfrm>
            <a:off x="9090736" y="1737360"/>
            <a:ext cx="20868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41</a:t>
            </a:r>
            <a:endParaRPr lang="en-US" sz="3400" dirty="0"/>
          </a:p>
        </p:txBody>
      </p:sp>
      <p:sp>
        <p:nvSpPr>
          <p:cNvPr id="14" name="Stat label 4"/>
          <p:cNvSpPr txBox="1"/>
          <p:nvPr/>
        </p:nvSpPr>
        <p:spPr>
          <a:xfrm>
            <a:off x="9090736" y="2377440"/>
            <a:ext cx="20868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663"/>
                </a:solidFill>
              </a:rPr>
              <a:t>attack episodes over 5 days</a:t>
            </a:r>
            <a:endParaRPr lang="en-US" sz="1400" dirty="0"/>
          </a:p>
        </p:txBody>
      </p:sp>
      <p:sp>
        <p:nvSpPr>
          <p:cNvPr id="15" name="Feature card 1"/>
          <p:cNvSpPr/>
          <p:nvPr/>
        </p:nvSpPr>
        <p:spPr>
          <a:xfrm>
            <a:off x="812902" y="3154680"/>
            <a:ext cx="3386633" cy="1783080"/>
          </a:xfrm>
          <a:prstGeom prst="roundRect">
            <a:avLst>
              <a:gd name="adj" fmla="val 4103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16" name="Feature title 1"/>
          <p:cNvSpPr txBox="1"/>
          <p:nvPr/>
        </p:nvSpPr>
        <p:spPr>
          <a:xfrm>
            <a:off x="1041502" y="3310128"/>
            <a:ext cx="29294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Flow level · 22</a:t>
            </a:r>
            <a:endParaRPr lang="en-US" sz="1800" dirty="0"/>
          </a:p>
        </p:txBody>
      </p:sp>
      <p:sp>
        <p:nvSpPr>
          <p:cNvPr id="17" name="Feature text 1"/>
          <p:cNvSpPr txBox="1"/>
          <p:nvPr/>
        </p:nvSpPr>
        <p:spPr>
          <a:xfrm>
            <a:off x="1041502" y="3749040"/>
            <a:ext cx="29294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TCP flag shares, inter-arrival stats, backward/forward ratios, scan signatures per source</a:t>
            </a:r>
            <a:endParaRPr lang="en-US" sz="1400" dirty="0"/>
          </a:p>
        </p:txBody>
      </p:sp>
      <p:sp>
        <p:nvSpPr>
          <p:cNvPr id="18" name="Feature card 2"/>
          <p:cNvSpPr/>
          <p:nvPr/>
        </p:nvSpPr>
        <p:spPr>
          <a:xfrm>
            <a:off x="4402531" y="3154680"/>
            <a:ext cx="3386633" cy="1783080"/>
          </a:xfrm>
          <a:prstGeom prst="roundRect">
            <a:avLst>
              <a:gd name="adj" fmla="val 4103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19" name="Feature title 2"/>
          <p:cNvSpPr txBox="1"/>
          <p:nvPr/>
        </p:nvSpPr>
        <p:spPr>
          <a:xfrm>
            <a:off x="4631131" y="3310128"/>
            <a:ext cx="29294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Base · 13</a:t>
            </a:r>
            <a:endParaRPr lang="en-US" sz="1800" dirty="0"/>
          </a:p>
        </p:txBody>
      </p:sp>
      <p:sp>
        <p:nvSpPr>
          <p:cNvPr id="20" name="Feature text 2"/>
          <p:cNvSpPr txBox="1"/>
          <p:nvPr/>
        </p:nvSpPr>
        <p:spPr>
          <a:xfrm>
            <a:off x="4631131" y="3749040"/>
            <a:ext cx="29294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Rates, unique hosts and ports, source entropy, top-source, top-port and top-pair shares</a:t>
            </a:r>
            <a:endParaRPr lang="en-US" sz="1400" dirty="0"/>
          </a:p>
        </p:txBody>
      </p:sp>
      <p:sp>
        <p:nvSpPr>
          <p:cNvPr id="21" name="Feature card 3"/>
          <p:cNvSpPr/>
          <p:nvPr/>
        </p:nvSpPr>
        <p:spPr>
          <a:xfrm>
            <a:off x="7992161" y="3154680"/>
            <a:ext cx="3386633" cy="1783080"/>
          </a:xfrm>
          <a:prstGeom prst="roundRect">
            <a:avLst>
              <a:gd name="adj" fmla="val 4103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22" name="Feature title 3"/>
          <p:cNvSpPr txBox="1"/>
          <p:nvPr/>
        </p:nvSpPr>
        <p:spPr>
          <a:xfrm>
            <a:off x="8220761" y="3310128"/>
            <a:ext cx="29294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Packet proxies · 8</a:t>
            </a:r>
            <a:endParaRPr lang="en-US" sz="1800" dirty="0"/>
          </a:p>
        </p:txBody>
      </p:sp>
      <p:sp>
        <p:nvSpPr>
          <p:cNvPr id="23" name="Feature text 3"/>
          <p:cNvSpPr txBox="1"/>
          <p:nvPr/>
        </p:nvSpPr>
        <p:spPr>
          <a:xfrm>
            <a:off x="8220761" y="3749040"/>
            <a:ext cx="29294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First-packet TCP window and per-flow packet-size distribution, the most a CSV offers</a:t>
            </a:r>
            <a:endParaRPr lang="en-US" sz="1400" dirty="0"/>
          </a:p>
        </p:txBody>
      </p:sp>
      <p:sp>
        <p:nvSpPr>
          <p:cNvPr id="24" name="Caveat callout"/>
          <p:cNvSpPr/>
          <p:nvPr/>
        </p:nvSpPr>
        <p:spPr>
          <a:xfrm>
            <a:off x="812902" y="5166360"/>
            <a:ext cx="10565892" cy="822960"/>
          </a:xfrm>
          <a:prstGeom prst="roundRect">
            <a:avLst>
              <a:gd name="adj" fmla="val 8889"/>
            </a:avLst>
          </a:prstGeom>
          <a:solidFill>
            <a:srgbClr val="EFE6D2"/>
          </a:solidFill>
          <a:ln/>
        </p:spPr>
      </p:sp>
      <p:sp>
        <p:nvSpPr>
          <p:cNvPr id="25" name="Caveat text"/>
          <p:cNvSpPr txBox="1"/>
          <p:nvPr/>
        </p:nvSpPr>
        <p:spPr>
          <a:xfrm>
            <a:off x="1041502" y="5303520"/>
            <a:ext cx="101086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A08"/>
                </a:solidFill>
              </a:rPr>
              <a:t>PCAP input also yields TTL, fragmentation flags and retransmissions. </a:t>
            </a:r>
            <a:pPr indent="0" marL="0">
              <a:buNone/>
            </a:pPr>
            <a:r>
              <a:rPr lang="en-US" sz="1400" dirty="0">
                <a:solidFill>
                  <a:srgbClr val="3A2A08"/>
                </a:solidFill>
              </a:rPr>
              <a:t>A CSV cannot supply them, so the trained model does not use them.</a:t>
            </a:r>
            <a:endParaRPr lang="en-US" sz="1400" dirty="0"/>
          </a:p>
        </p:txBody>
      </p:sp>
      <p:sp>
        <p:nvSpPr>
          <p:cNvPr id="26" name="Footer note"/>
          <p:cNvSpPr txBox="1"/>
          <p:nvPr/>
        </p:nvSpPr>
        <p:spPr>
          <a:xfrm>
            <a:off x="812902" y="6263640"/>
            <a:ext cx="10565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663"/>
                </a:solidFill>
              </a:rPr>
              <a:t>Scaler fit on benign training windows only. Attacks start abruptly at one-minute resolution.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902" y="777240"/>
            <a:ext cx="10565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Rollout, ATT&amp;CK stage and SHAP on every prediction</a:t>
            </a:r>
            <a:endParaRPr lang="en-US" sz="3200" dirty="0"/>
          </a:p>
        </p:txBody>
      </p:sp>
      <p:sp>
        <p:nvSpPr>
          <p:cNvPr id="3" name="Engine card"/>
          <p:cNvSpPr/>
          <p:nvPr/>
        </p:nvSpPr>
        <p:spPr>
          <a:xfrm>
            <a:off x="812902" y="1783080"/>
            <a:ext cx="5181448" cy="2377440"/>
          </a:xfrm>
          <a:prstGeom prst="roundRect">
            <a:avLst>
              <a:gd name="adj" fmla="val 3077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4" name="Engine title"/>
          <p:cNvSpPr txBox="1"/>
          <p:nvPr/>
        </p:nvSpPr>
        <p:spPr>
          <a:xfrm>
            <a:off x="1041502" y="194767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Prediction engine</a:t>
            </a:r>
            <a:endParaRPr lang="en-US" sz="1800" dirty="0"/>
          </a:p>
        </p:txBody>
      </p:sp>
      <p:sp>
        <p:nvSpPr>
          <p:cNvPr id="5" name="Engine steps"/>
          <p:cNvSpPr txBox="1"/>
          <p:nvPr/>
        </p:nvSpPr>
        <p:spPr>
          <a:xfrm>
            <a:off x="1041502" y="2423160"/>
            <a:ext cx="4724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2D3A47"/>
                </a:solidFill>
              </a:rPr>
              <a:t>An LSTM (100,702 parameters) reads 6 windows and predicts a Gaussian over the next state.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2D3A47"/>
                </a:solidFill>
              </a:rPr>
              <a:t>A 6-step rollout feeds the predicted state back in.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2D3A47"/>
                </a:solidFill>
              </a:rPr>
              <a:t>Heads read P(infiltration) and the stage at every step.</a:t>
            </a:r>
            <a:endParaRPr lang="en-US" sz="1400" dirty="0"/>
          </a:p>
        </p:txBody>
      </p:sp>
      <p:sp>
        <p:nvSpPr>
          <p:cNvPr id="6" name="Validation card"/>
          <p:cNvSpPr/>
          <p:nvPr/>
        </p:nvSpPr>
        <p:spPr>
          <a:xfrm>
            <a:off x="6197346" y="1783080"/>
            <a:ext cx="5181448" cy="2377440"/>
          </a:xfrm>
          <a:prstGeom prst="roundRect">
            <a:avLst>
              <a:gd name="adj" fmla="val 3077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7" name="Validation title"/>
          <p:cNvSpPr txBox="1"/>
          <p:nvPr/>
        </p:nvSpPr>
        <p:spPr>
          <a:xfrm>
            <a:off x="6425946" y="194767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Explanations, validated</a:t>
            </a:r>
            <a:endParaRPr lang="en-US" sz="1800" dirty="0"/>
          </a:p>
        </p:txBody>
      </p:sp>
      <p:sp>
        <p:nvSpPr>
          <p:cNvPr id="8" name="Metric 1"/>
          <p:cNvSpPr txBox="1"/>
          <p:nvPr/>
        </p:nvSpPr>
        <p:spPr>
          <a:xfrm>
            <a:off x="6425946" y="2468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 = 0.99</a:t>
            </a:r>
            <a:endParaRPr lang="en-US" sz="2000" dirty="0"/>
          </a:p>
        </p:txBody>
      </p:sp>
      <p:sp>
        <p:nvSpPr>
          <p:cNvPr id="9" name="Metric label 1"/>
          <p:cNvSpPr txBox="1"/>
          <p:nvPr/>
        </p:nvSpPr>
        <p:spPr>
          <a:xfrm>
            <a:off x="8071866" y="2505456"/>
            <a:ext cx="3078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agreement with the shap library</a:t>
            </a:r>
            <a:endParaRPr lang="en-US" sz="1400" dirty="0"/>
          </a:p>
        </p:txBody>
      </p:sp>
      <p:sp>
        <p:nvSpPr>
          <p:cNvPr id="10" name="Metric 2"/>
          <p:cNvSpPr txBox="1"/>
          <p:nvPr/>
        </p:nvSpPr>
        <p:spPr>
          <a:xfrm>
            <a:off x="6425946" y="299923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1.27 vs 0</a:t>
            </a:r>
            <a:endParaRPr lang="en-US" sz="2000" dirty="0"/>
          </a:p>
        </p:txBody>
      </p:sp>
      <p:sp>
        <p:nvSpPr>
          <p:cNvPr id="11" name="Metric label 2"/>
          <p:cNvSpPr txBox="1"/>
          <p:nvPr/>
        </p:nvSpPr>
        <p:spPr>
          <a:xfrm>
            <a:off x="8071866" y="3035808"/>
            <a:ext cx="3078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logit drop deleting the top 3 features vs random ones</a:t>
            </a:r>
            <a:endParaRPr lang="en-US" sz="1400" dirty="0"/>
          </a:p>
        </p:txBody>
      </p:sp>
      <p:sp>
        <p:nvSpPr>
          <p:cNvPr id="12" name="Metric 3"/>
          <p:cNvSpPr txBox="1"/>
          <p:nvPr/>
        </p:nvSpPr>
        <p:spPr>
          <a:xfrm>
            <a:off x="6425946" y="3529584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8.8%</a:t>
            </a:r>
            <a:endParaRPr lang="en-US" sz="2000" dirty="0"/>
          </a:p>
        </p:txBody>
      </p:sp>
      <p:sp>
        <p:nvSpPr>
          <p:cNvPr id="13" name="Metric label 3"/>
          <p:cNvSpPr txBox="1"/>
          <p:nvPr/>
        </p:nvSpPr>
        <p:spPr>
          <a:xfrm>
            <a:off x="8071866" y="3566160"/>
            <a:ext cx="3078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completeness error: approximate, not exact</a:t>
            </a:r>
            <a:endParaRPr lang="en-US" sz="1400" dirty="0"/>
          </a:p>
        </p:txBody>
      </p:sp>
      <p:sp>
        <p:nvSpPr>
          <p:cNvPr id="14" name="Stage mapping panel"/>
          <p:cNvSpPr/>
          <p:nvPr/>
        </p:nvSpPr>
        <p:spPr>
          <a:xfrm>
            <a:off x="812902" y="4343400"/>
            <a:ext cx="10565892" cy="1600200"/>
          </a:xfrm>
          <a:prstGeom prst="roundRect">
            <a:avLst>
              <a:gd name="adj" fmla="val 4571"/>
            </a:avLst>
          </a:prstGeom>
          <a:solidFill>
            <a:srgbClr val="14202E"/>
          </a:solidFill>
          <a:ln/>
        </p:spPr>
      </p:sp>
      <p:sp>
        <p:nvSpPr>
          <p:cNvPr id="15" name="Stage eyebrow"/>
          <p:cNvSpPr txBox="1"/>
          <p:nvPr/>
        </p:nvSpPr>
        <p:spPr>
          <a:xfrm>
            <a:off x="1087222" y="4480560"/>
            <a:ext cx="10017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D6CB"/>
                </a:solidFill>
              </a:rPr>
              <a:t>STAGE MAPPING</a:t>
            </a:r>
            <a:endParaRPr lang="en-US" sz="1200" dirty="0"/>
          </a:p>
        </p:txBody>
      </p:sp>
      <p:sp>
        <p:nvSpPr>
          <p:cNvPr id="16" name="Stage mapping"/>
          <p:cNvSpPr txBox="1"/>
          <p:nvPr/>
        </p:nvSpPr>
        <p:spPr>
          <a:xfrm>
            <a:off x="1087222" y="4800600"/>
            <a:ext cx="100172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1EFE8"/>
                </a:solidFill>
              </a:rPr>
              <a:t>PortScan = Recon  ·  Patator and web attacks = Initial Access  ·  Infiltration = Lateral Movement  ·  Bot = C2</a:t>
            </a:r>
            <a:endParaRPr lang="en-US" sz="1400" dirty="0"/>
          </a:p>
        </p:txBody>
      </p:sp>
      <p:sp>
        <p:nvSpPr>
          <p:cNvPr id="17" name="Stage caveat"/>
          <p:cNvSpPr txBox="1"/>
          <p:nvPr/>
        </p:nvSpPr>
        <p:spPr>
          <a:xfrm>
            <a:off x="1087222" y="5394960"/>
            <a:ext cx="100172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66"/>
                </a:solidFill>
              </a:rPr>
              <a:t>DoS and DDoS are Impact, outside the five stages. No label is Exfiltration, so that output cannot be learned.</a:t>
            </a:r>
            <a:endParaRPr lang="en-US" sz="1400" dirty="0"/>
          </a:p>
        </p:txBody>
      </p:sp>
      <p:sp>
        <p:nvSpPr>
          <p:cNvPr id="18" name="Footer note"/>
          <p:cNvSpPr txBox="1"/>
          <p:nvPr/>
        </p:nvSpPr>
        <p:spPr>
          <a:xfrm>
            <a:off x="812902" y="6263640"/>
            <a:ext cx="10565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663"/>
                </a:solidFill>
              </a:rPr>
              <a:t>Host counterfactual: removing the DDoS pair from the lookback drops P from 0.98 to about 0.05.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902" y="777240"/>
            <a:ext cx="10565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temporal model does not beat logistic regression</a:t>
            </a:r>
            <a:endParaRPr lang="en-US" sz="3200" dirty="0"/>
          </a:p>
        </p:txBody>
      </p:sp>
      <p:sp>
        <p:nvSpPr>
          <p:cNvPr id="3" name="Chart card"/>
          <p:cNvSpPr/>
          <p:nvPr/>
        </p:nvSpPr>
        <p:spPr>
          <a:xfrm>
            <a:off x="812902" y="187452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FDFCF8"/>
          </a:solidFill>
          <a:ln w="9525">
            <a:solidFill>
              <a:srgbClr val="DAD7CC"/>
            </a:solidFill>
            <a:prstDash val="solid"/>
          </a:ln>
        </p:spPr>
      </p:sp>
      <p:sp>
        <p:nvSpPr>
          <p:cNvPr id="4" name="Chart title"/>
          <p:cNvSpPr txBox="1"/>
          <p:nvPr/>
        </p:nvSpPr>
        <p:spPr>
          <a:xfrm>
            <a:off x="1041502" y="20391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PR-AUC, detecting the current window</a:t>
            </a:r>
            <a:endParaRPr lang="en-US" sz="1600" dirty="0"/>
          </a:p>
        </p:txBody>
      </p:sp>
      <p:sp>
        <p:nvSpPr>
          <p:cNvPr id="5" name="Bar label 1"/>
          <p:cNvSpPr txBox="1"/>
          <p:nvPr/>
        </p:nvSpPr>
        <p:spPr>
          <a:xfrm>
            <a:off x="1041502" y="2606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Logistic regression</a:t>
            </a:r>
            <a:endParaRPr lang="en-US" sz="1400" dirty="0"/>
          </a:p>
        </p:txBody>
      </p:sp>
      <p:sp>
        <p:nvSpPr>
          <p:cNvPr id="6" name="Bar 1"/>
          <p:cNvSpPr/>
          <p:nvPr/>
        </p:nvSpPr>
        <p:spPr>
          <a:xfrm>
            <a:off x="2778862" y="2560320"/>
            <a:ext cx="2743200" cy="420624"/>
          </a:xfrm>
          <a:prstGeom prst="rect">
            <a:avLst/>
          </a:prstGeom>
          <a:solidFill>
            <a:srgbClr val="1F6F69"/>
          </a:solidFill>
          <a:ln/>
        </p:spPr>
      </p:sp>
      <p:sp>
        <p:nvSpPr>
          <p:cNvPr id="7" name="Bar value 1"/>
          <p:cNvSpPr txBox="1"/>
          <p:nvPr/>
        </p:nvSpPr>
        <p:spPr>
          <a:xfrm>
            <a:off x="5631790" y="2606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0.45</a:t>
            </a:r>
            <a:endParaRPr lang="en-US" sz="1400" dirty="0"/>
          </a:p>
        </p:txBody>
      </p:sp>
      <p:sp>
        <p:nvSpPr>
          <p:cNvPr id="8" name="Bar label 2"/>
          <p:cNvSpPr txBox="1"/>
          <p:nvPr/>
        </p:nvSpPr>
        <p:spPr>
          <a:xfrm>
            <a:off x="1041502" y="32095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LSTM classifier</a:t>
            </a:r>
            <a:endParaRPr lang="en-US" sz="1400" dirty="0"/>
          </a:p>
        </p:txBody>
      </p:sp>
      <p:sp>
        <p:nvSpPr>
          <p:cNvPr id="9" name="Bar 2"/>
          <p:cNvSpPr/>
          <p:nvPr/>
        </p:nvSpPr>
        <p:spPr>
          <a:xfrm>
            <a:off x="2778862" y="3163824"/>
            <a:ext cx="2128869" cy="420624"/>
          </a:xfrm>
          <a:prstGeom prst="rect">
            <a:avLst/>
          </a:prstGeom>
          <a:solidFill>
            <a:srgbClr val="7C93A8"/>
          </a:solidFill>
          <a:ln/>
        </p:spPr>
      </p:sp>
      <p:sp>
        <p:nvSpPr>
          <p:cNvPr id="10" name="Bar value 2"/>
          <p:cNvSpPr txBox="1"/>
          <p:nvPr/>
        </p:nvSpPr>
        <p:spPr>
          <a:xfrm>
            <a:off x="5017459" y="32095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0.35</a:t>
            </a:r>
            <a:endParaRPr lang="en-US" sz="1400" dirty="0"/>
          </a:p>
        </p:txBody>
      </p:sp>
      <p:sp>
        <p:nvSpPr>
          <p:cNvPr id="11" name="Bar label 3"/>
          <p:cNvSpPr txBox="1"/>
          <p:nvPr/>
        </p:nvSpPr>
        <p:spPr>
          <a:xfrm>
            <a:off x="1041502" y="38130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A47"/>
                </a:solidFill>
              </a:rPr>
              <a:t>World model</a:t>
            </a:r>
            <a:endParaRPr lang="en-US" sz="1400" dirty="0"/>
          </a:p>
        </p:txBody>
      </p:sp>
      <p:sp>
        <p:nvSpPr>
          <p:cNvPr id="12" name="Bar 3"/>
          <p:cNvSpPr/>
          <p:nvPr/>
        </p:nvSpPr>
        <p:spPr>
          <a:xfrm>
            <a:off x="2778862" y="3767328"/>
            <a:ext cx="1332064" cy="420624"/>
          </a:xfrm>
          <a:prstGeom prst="rect">
            <a:avLst/>
          </a:prstGeom>
          <a:solidFill>
            <a:srgbClr val="C98A1F"/>
          </a:solidFill>
          <a:ln/>
        </p:spPr>
      </p:sp>
      <p:sp>
        <p:nvSpPr>
          <p:cNvPr id="13" name="Bar value 3"/>
          <p:cNvSpPr txBox="1"/>
          <p:nvPr/>
        </p:nvSpPr>
        <p:spPr>
          <a:xfrm>
            <a:off x="4220653" y="38130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0.22</a:t>
            </a:r>
            <a:endParaRPr lang="en-US" sz="1400" dirty="0"/>
          </a:p>
        </p:txBody>
      </p:sp>
      <p:sp>
        <p:nvSpPr>
          <p:cNvPr id="14" name="Chart caption"/>
          <p:cNvSpPr txBox="1"/>
          <p:nvPr/>
        </p:nvSpPr>
        <p:spPr>
          <a:xfrm>
            <a:off x="1041502" y="452628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663"/>
                </a:solidFill>
              </a:rPr>
              <a:t>95% CI: 0.23 to 0.67, 0.16 to 0.59, 0.11 to 0.37. World model minus logistic regression: -0.22 [-0.41, -0.05]. F1: 0.43, 0.31, 0.20.</a:t>
            </a:r>
            <a:endParaRPr lang="en-US" sz="1200" dirty="0"/>
          </a:p>
        </p:txBody>
      </p:sp>
      <p:sp>
        <p:nvSpPr>
          <p:cNvPr id="15" name="Findings"/>
          <p:cNvSpPr txBox="1"/>
          <p:nvPr/>
        </p:nvSpPr>
        <p:spPr>
          <a:xfrm>
            <a:off x="7030822" y="1920240"/>
            <a:ext cx="43479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D3A47"/>
                </a:solidFill>
              </a:rPr>
              <a:t>Forecasting 3 minutes ahead: </a:t>
            </a:r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2D3A47"/>
                </a:solidFill>
              </a:rPr>
              <a:t>every model sits at PR-AUC 0.18 to 0.25 against a base rate of 0.11, with no significant differences.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D3A47"/>
                </a:solidFill>
              </a:rPr>
              <a:t>Unseen attack types: </a:t>
            </a:r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2D3A47"/>
                </a:solidFill>
              </a:rPr>
              <a:t>mean recall 0.36 for logistic regression, 0.19 for the world model.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D3A47"/>
                </a:solidFill>
              </a:rPr>
              <a:t>Dynamics: </a:t>
            </a:r>
            <a:pPr indent="0" marL="0">
              <a:buNone/>
            </a:pPr>
            <a:r>
              <a:rPr lang="en-US" sz="1500" dirty="0">
                <a:solidFill>
                  <a:srgbClr val="2D3A47"/>
                </a:solidFill>
              </a:rPr>
              <a:t>the learned next-state model loses to a linear AR(1) predictor.</a:t>
            </a:r>
            <a:endParaRPr lang="en-US" sz="1500" dirty="0"/>
          </a:p>
        </p:txBody>
      </p:sp>
      <p:sp>
        <p:nvSpPr>
          <p:cNvPr id="16" name="Footer note"/>
          <p:cNvSpPr txBox="1"/>
          <p:nvPr/>
        </p:nvSpPr>
        <p:spPr>
          <a:xfrm>
            <a:off x="812902" y="6263640"/>
            <a:ext cx="10565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663"/>
                </a:solidFill>
              </a:rPr>
              <a:t>Blocked 5-fold CV with purge, 3 seeds, block-bootstrap CIs. 2,095 test samples, 11% attack windows.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902" y="777240"/>
            <a:ext cx="10565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1EFE8"/>
                </a:solidFill>
              </a:rPr>
              <a:t>What works, what does not, what next</a:t>
            </a:r>
            <a:endParaRPr lang="en-US" sz="3200" dirty="0"/>
          </a:p>
        </p:txBody>
      </p:sp>
      <p:sp>
        <p:nvSpPr>
          <p:cNvPr id="3" name="Column card 1"/>
          <p:cNvSpPr/>
          <p:nvPr/>
        </p:nvSpPr>
        <p:spPr>
          <a:xfrm>
            <a:off x="812902" y="1600200"/>
            <a:ext cx="3386633" cy="2743200"/>
          </a:xfrm>
          <a:prstGeom prst="roundRect">
            <a:avLst>
              <a:gd name="adj" fmla="val 2667"/>
            </a:avLst>
          </a:prstGeom>
          <a:solidFill>
            <a:srgbClr val="1B3045"/>
          </a:solidFill>
          <a:ln/>
        </p:spPr>
      </p:sp>
      <p:sp>
        <p:nvSpPr>
          <p:cNvPr id="4" name="Column title 1"/>
          <p:cNvSpPr txBox="1"/>
          <p:nvPr/>
        </p:nvSpPr>
        <p:spPr>
          <a:xfrm>
            <a:off x="1068934" y="1783080"/>
            <a:ext cx="2874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D6CB"/>
                </a:solidFill>
              </a:rPr>
              <a:t>Demo</a:t>
            </a:r>
            <a:endParaRPr lang="en-US" sz="1800" dirty="0"/>
          </a:p>
        </p:txBody>
      </p:sp>
      <p:sp>
        <p:nvSpPr>
          <p:cNvPr id="5" name="Column items 1"/>
          <p:cNvSpPr txBox="1"/>
          <p:nvPr/>
        </p:nvSpPr>
        <p:spPr>
          <a:xfrm>
            <a:off x="1068934" y="2331720"/>
            <a:ext cx="2874569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Upload a CSV or a PCAP, fully offline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Probability timeline, stage markers, flagged windows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SHAP drivers and host counterfactuals</a:t>
            </a:r>
            <a:endParaRPr lang="en-US" sz="1400" dirty="0"/>
          </a:p>
        </p:txBody>
      </p:sp>
      <p:sp>
        <p:nvSpPr>
          <p:cNvPr id="6" name="Column card 2"/>
          <p:cNvSpPr/>
          <p:nvPr/>
        </p:nvSpPr>
        <p:spPr>
          <a:xfrm>
            <a:off x="4402531" y="1600200"/>
            <a:ext cx="3386633" cy="2743200"/>
          </a:xfrm>
          <a:prstGeom prst="roundRect">
            <a:avLst>
              <a:gd name="adj" fmla="val 2667"/>
            </a:avLst>
          </a:prstGeom>
          <a:solidFill>
            <a:srgbClr val="1B3045"/>
          </a:solidFill>
          <a:ln/>
        </p:spPr>
      </p:sp>
      <p:sp>
        <p:nvSpPr>
          <p:cNvPr id="7" name="Column title 2"/>
          <p:cNvSpPr txBox="1"/>
          <p:nvPr/>
        </p:nvSpPr>
        <p:spPr>
          <a:xfrm>
            <a:off x="4658563" y="1783080"/>
            <a:ext cx="2874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66"/>
                </a:solidFill>
              </a:rPr>
              <a:t>Limits</a:t>
            </a:r>
            <a:endParaRPr lang="en-US" sz="1800" dirty="0"/>
          </a:p>
        </p:txBody>
      </p:sp>
      <p:sp>
        <p:nvSpPr>
          <p:cNvPr id="8" name="Column items 2"/>
          <p:cNvSpPr txBox="1"/>
          <p:nvPr/>
        </p:nvSpPr>
        <p:spPr>
          <a:xfrm>
            <a:off x="4658563" y="2331720"/>
            <a:ext cx="2874569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41 episodes in one lab network, minute resolution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Demo weights trained on all days; the sample is in-sample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Thresholds drift across days</a:t>
            </a:r>
            <a:endParaRPr lang="en-US" sz="1400" dirty="0"/>
          </a:p>
        </p:txBody>
      </p:sp>
      <p:sp>
        <p:nvSpPr>
          <p:cNvPr id="9" name="Column card 3"/>
          <p:cNvSpPr/>
          <p:nvPr/>
        </p:nvSpPr>
        <p:spPr>
          <a:xfrm>
            <a:off x="7992161" y="1600200"/>
            <a:ext cx="3386633" cy="2743200"/>
          </a:xfrm>
          <a:prstGeom prst="roundRect">
            <a:avLst>
              <a:gd name="adj" fmla="val 2667"/>
            </a:avLst>
          </a:prstGeom>
          <a:solidFill>
            <a:srgbClr val="1B3045"/>
          </a:solidFill>
          <a:ln/>
        </p:spPr>
      </p:sp>
      <p:sp>
        <p:nvSpPr>
          <p:cNvPr id="10" name="Column title 3"/>
          <p:cNvSpPr txBox="1"/>
          <p:nvPr/>
        </p:nvSpPr>
        <p:spPr>
          <a:xfrm>
            <a:off x="8248193" y="1783080"/>
            <a:ext cx="2874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9D4DE"/>
                </a:solidFill>
              </a:rPr>
              <a:t>Next</a:t>
            </a:r>
            <a:endParaRPr lang="en-US" sz="1800" dirty="0"/>
          </a:p>
        </p:txBody>
      </p:sp>
      <p:sp>
        <p:nvSpPr>
          <p:cNvPr id="11" name="Column items 3"/>
          <p:cNvSpPr txBox="1"/>
          <p:nvPr/>
        </p:nvSpPr>
        <p:spPr>
          <a:xfrm>
            <a:off x="8248193" y="2331720"/>
            <a:ext cx="2874569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CIC-IDS2018 or CTU-13: finer time, multi-stage attacks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Stronger regularisation of the world model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3E8ED"/>
                </a:solidFill>
              </a:rPr>
              <a:t>Host-level graph state</a:t>
            </a:r>
            <a:endParaRPr lang="en-US" sz="1400" dirty="0"/>
          </a:p>
        </p:txBody>
      </p:sp>
      <p:sp>
        <p:nvSpPr>
          <p:cNvPr id="12" name="Contribution"/>
          <p:cNvSpPr txBox="1"/>
          <p:nvPr/>
        </p:nvSpPr>
        <p:spPr>
          <a:xfrm>
            <a:off x="812902" y="4709160"/>
            <a:ext cx="105658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1EFE8"/>
                </a:solidFill>
              </a:rPr>
              <a:t>The contribution: a reproducible, explainable baseline and an evaluation protocol that exposes weaknesses instead of hiding them.</a:t>
            </a:r>
            <a:endParaRPr lang="en-US" sz="1600" dirty="0"/>
          </a:p>
        </p:txBody>
      </p:sp>
      <p:sp>
        <p:nvSpPr>
          <p:cNvPr id="13" name="Footer note"/>
          <p:cNvSpPr txBox="1"/>
          <p:nvPr/>
        </p:nvSpPr>
        <p:spPr>
          <a:xfrm>
            <a:off x="812902" y="6263640"/>
            <a:ext cx="10565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0C0"/>
                </a:solidFill>
              </a:rPr>
              <a:t>github.com/ydhitler1-arch/network-attack-world-model  ·  MIT licence  ·  fixed seeds, config, weights and tests included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ld model early warning">
  <a:themeElements>
    <a:clrScheme name="World model early warning">
      <a:dk1>
        <a:srgbClr val="14202E"/>
      </a:dk1>
      <a:lt1>
        <a:srgbClr val="F6F5F0"/>
      </a:lt1>
      <a:dk2>
        <a:srgbClr val="12202F"/>
      </a:dk2>
      <a:lt2>
        <a:srgbClr val="FDFCF8"/>
      </a:lt2>
      <a:accent1>
        <a:srgbClr val="1F6F69"/>
      </a:accent1>
      <a:accent2>
        <a:srgbClr val="C98A1F"/>
      </a:accent2>
      <a:accent3>
        <a:srgbClr val="7C93A8"/>
      </a:accent3>
      <a:accent4>
        <a:srgbClr val="6FD6CB"/>
      </a:accent4>
      <a:accent5>
        <a:srgbClr val="F2B766"/>
      </a:accent5>
      <a:accent6>
        <a:srgbClr val="1B3045"/>
      </a:accent6>
      <a:hlink>
        <a:srgbClr val="1F6F69"/>
      </a:hlink>
      <a:folHlink>
        <a:srgbClr val="7C93A8"/>
      </a:folHlink>
    </a:clrScheme>
    <a:fontScheme name="World model early warn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World-model early warning: SIH PS 26153</dc:title>
  <dc:subject>PptxGenJS Presentation</dc:subject>
  <dc:creator>Devan</dc:creator>
  <cp:lastModifiedBy>Devan</cp:lastModifiedBy>
  <cp:revision>1</cp:revision>
  <dcterms:created xsi:type="dcterms:W3CDTF">2026-10-10T07:33:30Z</dcterms:created>
  <dcterms:modified xsi:type="dcterms:W3CDTF">2026-10-10T07:33:30Z</dcterms:modified>
</cp:coreProperties>
</file>